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4" r:id="rId1"/>
    <p:sldMasterId id="2147483665" r:id="rId2"/>
    <p:sldMasterId id="2147483666" r:id="rId3"/>
  </p:sldMasterIdLst>
  <p:notesMasterIdLst>
    <p:notesMasterId r:id="rId58"/>
  </p:notesMasterIdLst>
  <p:sldIdLst>
    <p:sldId id="256" r:id="rId4"/>
    <p:sldId id="257" r:id="rId5"/>
    <p:sldId id="258" r:id="rId6"/>
    <p:sldId id="259" r:id="rId7"/>
    <p:sldId id="260" r:id="rId8"/>
    <p:sldId id="310" r:id="rId9"/>
    <p:sldId id="311" r:id="rId10"/>
    <p:sldId id="312" r:id="rId11"/>
    <p:sldId id="313" r:id="rId12"/>
    <p:sldId id="314" r:id="rId13"/>
    <p:sldId id="315" r:id="rId14"/>
    <p:sldId id="267" r:id="rId15"/>
    <p:sldId id="268" r:id="rId16"/>
    <p:sldId id="269" r:id="rId17"/>
    <p:sldId id="270" r:id="rId18"/>
    <p:sldId id="271" r:id="rId19"/>
    <p:sldId id="272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281" r:id="rId29"/>
    <p:sldId id="325" r:id="rId30"/>
    <p:sldId id="326" r:id="rId31"/>
    <p:sldId id="284" r:id="rId32"/>
    <p:sldId id="285" r:id="rId33"/>
    <p:sldId id="286" r:id="rId34"/>
    <p:sldId id="287" r:id="rId35"/>
    <p:sldId id="288" r:id="rId36"/>
    <p:sldId id="289" r:id="rId37"/>
    <p:sldId id="327" r:id="rId38"/>
    <p:sldId id="328" r:id="rId39"/>
    <p:sldId id="292" r:id="rId40"/>
    <p:sldId id="335" r:id="rId41"/>
    <p:sldId id="294" r:id="rId42"/>
    <p:sldId id="329" r:id="rId43"/>
    <p:sldId id="296" r:id="rId44"/>
    <p:sldId id="331" r:id="rId45"/>
    <p:sldId id="332" r:id="rId46"/>
    <p:sldId id="299" r:id="rId47"/>
    <p:sldId id="300" r:id="rId48"/>
    <p:sldId id="301" r:id="rId49"/>
    <p:sldId id="333" r:id="rId50"/>
    <p:sldId id="334" r:id="rId51"/>
    <p:sldId id="304" r:id="rId52"/>
    <p:sldId id="305" r:id="rId53"/>
    <p:sldId id="306" r:id="rId54"/>
    <p:sldId id="307" r:id="rId55"/>
    <p:sldId id="308" r:id="rId56"/>
    <p:sldId id="309" r:id="rId57"/>
  </p:sldIdLst>
  <p:sldSz cx="9144000" cy="6858000" type="screen4x3"/>
  <p:notesSz cx="6858000" cy="9144000"/>
  <p:embeddedFontLst>
    <p:embeddedFont>
      <p:font typeface="Times" panose="02020603050405020304" pitchFamily="18" charset="0"/>
      <p:regular r:id="rId59"/>
      <p:bold r:id="rId60"/>
      <p:italic r:id="rId61"/>
      <p:boldItalic r:id="rId62"/>
    </p:embeddedFont>
    <p:embeddedFont>
      <p:font typeface="Arial Black" panose="020B0A04020102020204" pitchFamily="34" charset="0"/>
      <p:regular r:id="rId63"/>
      <p:bold r:id="rId64"/>
    </p:embeddedFont>
    <p:embeddedFont>
      <p:font typeface="Helvetica Neue" panose="020B0604020202020204" charset="0"/>
      <p:regular r:id="rId65"/>
      <p:bold r:id="rId66"/>
      <p:italic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715" autoAdjust="0"/>
  </p:normalViewPr>
  <p:slideViewPr>
    <p:cSldViewPr snapToGrid="0">
      <p:cViewPr varScale="1">
        <p:scale>
          <a:sx n="91" d="100"/>
          <a:sy n="91" d="100"/>
        </p:scale>
        <p:origin x="1404" y="84"/>
      </p:cViewPr>
      <p:guideLst/>
    </p:cSldViewPr>
  </p:slideViewPr>
  <p:outlineViewPr>
    <p:cViewPr>
      <p:scale>
        <a:sx n="33" d="100"/>
        <a:sy n="33" d="100"/>
      </p:scale>
      <p:origin x="0" y="-294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font" Target="fonts/font5.fntdata"/><Relationship Id="rId68" Type="http://schemas.openxmlformats.org/officeDocument/2006/relationships/font" Target="fonts/font10.fntdata"/><Relationship Id="rId7" Type="http://schemas.openxmlformats.org/officeDocument/2006/relationships/slide" Target="slides/slide4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8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font" Target="fonts/font3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font" Target="fonts/font6.fntdata"/><Relationship Id="rId69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1.fntdata"/><Relationship Id="rId67" Type="http://schemas.openxmlformats.org/officeDocument/2006/relationships/font" Target="fonts/font9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4.fntdata"/><Relationship Id="rId7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/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/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/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/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/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/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/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/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lang="en-US" sz="1200" b="0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/>
          <p:nvPr/>
        </p:nvSpPr>
        <p:spPr>
          <a:xfrm>
            <a:off x="3886200" y="868680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fld>
            <a:endParaRPr lang="en-US" sz="1200" b="0" i="0" u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" name="Shape 15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Shape 154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Shape 160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161" name="Shape 161"/>
          <p:cNvSpPr txBox="1"/>
          <p:nvPr/>
        </p:nvSpPr>
        <p:spPr>
          <a:xfrm>
            <a:off x="3886200" y="868680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fld>
            <a:endParaRPr lang="en-US" sz="1200" b="0" i="0" u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70" name="Shape 17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79" name="Shape 1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6" name="Shape 27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6" name="Shape 2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7" name="Shape 29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08" name="Shape 30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7" name="Shape 31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6" name="Shape 3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413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14" name="Shape 41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444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45" name="Shape 44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453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54" name="Shape 45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3" name="Shape 46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471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72" name="Shape 47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480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81" name="Shape 48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489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90" name="Shape 49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Shape 517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18" name="Shape 5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Shape 537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38" name="Shape 53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556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57" name="Shape 55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Shape 583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4" name="Shape 58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Shape 59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3" name="Shape 59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hape 601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02" name="Shape 60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Shape 634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35" name="Shape 63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Shape 643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4" name="Shape 64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Shape 654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55" name="Shape 65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Shape 664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65" name="Shape 66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Shape 674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75" name="Shape 67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Shape 684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5" name="Shape 6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>
            <a:spLocks noGrp="1"/>
          </p:cNvSpPr>
          <p:nvPr>
            <p:ph type="ctrTitle"/>
          </p:nvPr>
        </p:nvSpPr>
        <p:spPr>
          <a:xfrm>
            <a:off x="2971800" y="1828800"/>
            <a:ext cx="6019799" cy="2209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42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ubTitle" idx="1"/>
          </p:nvPr>
        </p:nvSpPr>
        <p:spPr>
          <a:xfrm>
            <a:off x="2971800" y="4267200"/>
            <a:ext cx="601979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6" name="Shape 5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1866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2"/>
          </p:nvPr>
        </p:nvSpPr>
        <p:spPr>
          <a:xfrm>
            <a:off x="457200" y="4000500"/>
            <a:ext cx="8229600" cy="1866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1" name="Shape 7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1866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body" idx="2"/>
          </p:nvPr>
        </p:nvSpPr>
        <p:spPr>
          <a:xfrm>
            <a:off x="457200" y="4000500"/>
            <a:ext cx="8229600" cy="1866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8" name="Shape 7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4038599" cy="1866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4038599" cy="1866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body" idx="3"/>
          </p:nvPr>
        </p:nvSpPr>
        <p:spPr>
          <a:xfrm>
            <a:off x="457200" y="4000500"/>
            <a:ext cx="8229600" cy="1866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6" name="Shape 8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4038599" cy="388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4038599" cy="388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92" name="Shape 9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" name="Shape 9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>
            <a:spLocks noGrp="1"/>
          </p:cNvSpPr>
          <p:nvPr>
            <p:ph type="title"/>
          </p:nvPr>
        </p:nvSpPr>
        <p:spPr>
          <a:xfrm rot="5400000">
            <a:off x="5105399" y="2285999"/>
            <a:ext cx="5105399" cy="20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 rot="5400000">
            <a:off x="914400" y="304800"/>
            <a:ext cx="5105399" cy="6019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7" name="Shape 9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98" name="Shape 9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9" name="Shape 9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02" name="Shape 102"/>
          <p:cNvSpPr txBox="1">
            <a:spLocks noGrp="1"/>
          </p:cNvSpPr>
          <p:nvPr>
            <p:ph type="body" idx="1"/>
          </p:nvPr>
        </p:nvSpPr>
        <p:spPr>
          <a:xfrm rot="5400000">
            <a:off x="2628899" y="-190500"/>
            <a:ext cx="3886200" cy="822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Shape 10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04" name="Shape 10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5" name="Shape 10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>
            <a:spLocks noGrp="1"/>
          </p:cNvSpPr>
          <p:nvPr>
            <p:ph type="title"/>
          </p:nvPr>
        </p:nvSpPr>
        <p:spPr>
          <a:xfrm>
            <a:off x="630237" y="457200"/>
            <a:ext cx="2949575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08" name="Shape 108"/>
          <p:cNvSpPr>
            <a:spLocks noGrp="1"/>
          </p:cNvSpPr>
          <p:nvPr>
            <p:ph type="pic" idx="2"/>
          </p:nvPr>
        </p:nvSpPr>
        <p:spPr>
          <a:xfrm>
            <a:off x="3887787" y="987425"/>
            <a:ext cx="4629150" cy="48736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914400" marR="0" lvl="2" indent="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1828800" marR="0" lvl="4" indent="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630237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0" algn="l" rtl="0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914400" marR="0" lvl="2" indent="0" algn="l" rtl="0">
              <a:spcBef>
                <a:spcPts val="24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0" algn="l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1828800" marR="0" lvl="4" indent="0" algn="l" rtl="0"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0" name="Shape 11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11" name="Shape 11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2" name="Shape 11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title"/>
          </p:nvPr>
        </p:nvSpPr>
        <p:spPr>
          <a:xfrm>
            <a:off x="630237" y="457200"/>
            <a:ext cx="2949575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3887787" y="987425"/>
            <a:ext cx="4629150" cy="48736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4350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397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6" name="Shape 116"/>
          <p:cNvSpPr txBox="1">
            <a:spLocks noGrp="1"/>
          </p:cNvSpPr>
          <p:nvPr>
            <p:ph type="body" idx="2"/>
          </p:nvPr>
        </p:nvSpPr>
        <p:spPr>
          <a:xfrm>
            <a:off x="630237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0" algn="l" rtl="0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914400" marR="0" lvl="2" indent="0" algn="l" rtl="0">
              <a:spcBef>
                <a:spcPts val="24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0" algn="l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1828800" marR="0" lvl="4" indent="0" algn="l" rtl="0"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7" name="Shape 11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18" name="Shape 11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9" name="Shape 11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22" name="Shape 12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3" name="Shape 12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26" name="Shape 12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27" name="Shape 12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8" name="Shape 12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>
            <a:spLocks noGrp="1"/>
          </p:cNvSpPr>
          <p:nvPr>
            <p:ph type="title"/>
          </p:nvPr>
        </p:nvSpPr>
        <p:spPr>
          <a:xfrm>
            <a:off x="630237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30237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914400" marR="0" lvl="2" indent="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0" algn="l" rtl="0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1828800" marR="0" lvl="4" indent="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2" name="Shape 132"/>
          <p:cNvSpPr txBox="1">
            <a:spLocks noGrp="1"/>
          </p:cNvSpPr>
          <p:nvPr>
            <p:ph type="body" idx="2"/>
          </p:nvPr>
        </p:nvSpPr>
        <p:spPr>
          <a:xfrm>
            <a:off x="630237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3" name="Shape 133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7" cy="8239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914400" marR="0" lvl="2" indent="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0" algn="l" rtl="0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1828800" marR="0" lvl="4" indent="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4" name="Shape 134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7" cy="3684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5" name="Shape 13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36" name="Shape 13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7" name="Shape 13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40" name="Shape 140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4038599" cy="388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1" name="Shape 141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4038599" cy="388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2" name="Shape 14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4" name="Shape 14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6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47" name="Shape 147"/>
          <p:cNvSpPr txBox="1">
            <a:spLocks noGrp="1"/>
          </p:cNvSpPr>
          <p:nvPr>
            <p:ph type="body" idx="1"/>
          </p:nvPr>
        </p:nvSpPr>
        <p:spPr>
          <a:xfrm>
            <a:off x="623887" y="4589462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914400" marR="0" lvl="2" indent="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0" algn="l" rtl="0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1828800" marR="0" lvl="4" indent="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8" name="Shape 14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49" name="Shape 14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0" name="Shape 15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 userDrawn="1"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41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41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E8AB4-564F-43E2-81CD-D950F0D6649D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5EF09C-AF83-4DE6-8437-305BEC979A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82248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66BE37-8325-4E4C-AB15-A60D5E855C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A4B94D-3664-4CD1-818F-E204D4631D38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43837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46221-83D0-43C1-B0D2-0BD717F623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4FE90-F940-4713-B500-9D1E7CD66122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996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C4FF69-4461-4357-B843-C86BCEF65B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78C482-75ED-405F-9DEC-8CAE034BFBF4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93580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72E35-7607-4A85-9C04-624859F70B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7532BB-E413-4CC5-A591-810CE90F37B1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24868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3FA03-9A53-45F1-9E0B-C6B570B588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08B614-D572-4E0D-9A13-972DB6C7BD27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4520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E859E3-E953-4937-AE48-8187A98DE3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05486-C1D0-4EA1-B2A9-7004018098C3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27066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237D28-89AB-4A43-B11F-8D12811813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805352-888E-4AD8-A135-11B70921FA44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76663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FA003A-D519-4D7D-A154-08DEA32609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ACA53-F4B9-45CA-B96E-FB7A99C0C458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9800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07470-0517-41F9-A4FC-DBA6C7BFA1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58184-4F4E-4797-BC8C-0F192AFD4AEA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0506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62000"/>
            <a:ext cx="2057400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762000"/>
            <a:ext cx="6019800" cy="51054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7A82FF-F9AD-4910-B484-C7532B86F1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86013B-76C7-4EE6-B4C1-C97BF5226EFC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32223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515679-2B59-482F-8197-2BF98CAA5E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44F7C8-43B7-4299-8A0E-09B45E868991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40608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8229600" cy="1866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4000500"/>
            <a:ext cx="8229600" cy="1866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E4CADD-0ADD-4DF7-B8EC-D5C22E773D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87EE2B-481E-4C74-8AA2-CD4B85C1EC70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56865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8229600" cy="1866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1866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96765B-010F-492B-96CE-A07156E33C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2CF18E-81B4-4C4C-939B-BA3F94B9E314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66824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57200" y="4000500"/>
            <a:ext cx="8229600" cy="1866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D95E1-641D-4216-9E94-C0DDC723ED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8BB69-7998-48B7-8E00-072B08F11319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4525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D329D9-4CC5-4D9F-BD0E-1DC4408492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BA5533-32B0-4735-9944-986ACD54C10D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7736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hape 10"/>
          <p:cNvGrpSpPr/>
          <p:nvPr/>
        </p:nvGrpSpPr>
        <p:grpSpPr>
          <a:xfrm>
            <a:off x="0" y="0"/>
            <a:ext cx="9143999" cy="6858000"/>
            <a:chOff x="0" y="0"/>
            <a:chExt cx="9143999" cy="6858000"/>
          </a:xfrm>
        </p:grpSpPr>
        <p:sp>
          <p:nvSpPr>
            <p:cNvPr id="11" name="Shape 11"/>
            <p:cNvSpPr txBox="1"/>
            <p:nvPr/>
          </p:nvSpPr>
          <p:spPr>
            <a:xfrm>
              <a:off x="0" y="0"/>
              <a:ext cx="3505200" cy="6858000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" name="Shape 12"/>
            <p:cNvSpPr txBox="1"/>
            <p:nvPr/>
          </p:nvSpPr>
          <p:spPr>
            <a:xfrm>
              <a:off x="1716086" y="1690686"/>
              <a:ext cx="7427912" cy="2533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grpSp>
          <p:nvGrpSpPr>
            <p:cNvPr id="13" name="Shape 13"/>
            <p:cNvGrpSpPr/>
            <p:nvPr/>
          </p:nvGrpSpPr>
          <p:grpSpPr>
            <a:xfrm>
              <a:off x="0" y="1066800"/>
              <a:ext cx="2867023" cy="3157537"/>
              <a:chOff x="0" y="1066800"/>
              <a:chExt cx="2867023" cy="3157537"/>
            </a:xfrm>
          </p:grpSpPr>
          <p:sp>
            <p:nvSpPr>
              <p:cNvPr id="14" name="Shape 14"/>
              <p:cNvSpPr txBox="1"/>
              <p:nvPr/>
            </p:nvSpPr>
            <p:spPr>
              <a:xfrm>
                <a:off x="573087" y="3582987"/>
                <a:ext cx="576262" cy="6413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" name="Shape 15"/>
              <p:cNvSpPr txBox="1"/>
              <p:nvPr/>
            </p:nvSpPr>
            <p:spPr>
              <a:xfrm>
                <a:off x="1716086" y="1690686"/>
                <a:ext cx="574674" cy="642936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6" name="Shape 16"/>
              <p:cNvSpPr txBox="1"/>
              <p:nvPr/>
            </p:nvSpPr>
            <p:spPr>
              <a:xfrm>
                <a:off x="2281236" y="1066800"/>
                <a:ext cx="585786" cy="63500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7" name="Shape 17"/>
              <p:cNvSpPr txBox="1"/>
              <p:nvPr/>
            </p:nvSpPr>
            <p:spPr>
              <a:xfrm>
                <a:off x="1141412" y="3582987"/>
                <a:ext cx="584200" cy="6413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8" name="Shape 18"/>
              <p:cNvSpPr txBox="1"/>
              <p:nvPr/>
            </p:nvSpPr>
            <p:spPr>
              <a:xfrm>
                <a:off x="2281236" y="1690686"/>
                <a:ext cx="585786" cy="64293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9" name="Shape 19"/>
              <p:cNvSpPr txBox="1"/>
              <p:nvPr/>
            </p:nvSpPr>
            <p:spPr>
              <a:xfrm>
                <a:off x="1141412" y="2324100"/>
                <a:ext cx="584200" cy="63341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0" name="Shape 20"/>
              <p:cNvSpPr txBox="1"/>
              <p:nvPr/>
            </p:nvSpPr>
            <p:spPr>
              <a:xfrm>
                <a:off x="0" y="2324100"/>
                <a:ext cx="582612" cy="63341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1" name="Shape 21"/>
              <p:cNvSpPr txBox="1"/>
              <p:nvPr/>
            </p:nvSpPr>
            <p:spPr>
              <a:xfrm>
                <a:off x="1716086" y="2324100"/>
                <a:ext cx="574674" cy="63341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2" name="Shape 22"/>
              <p:cNvSpPr txBox="1"/>
              <p:nvPr/>
            </p:nvSpPr>
            <p:spPr>
              <a:xfrm>
                <a:off x="573087" y="2947986"/>
                <a:ext cx="576262" cy="644524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3" name="Shape 23"/>
              <p:cNvSpPr txBox="1"/>
              <p:nvPr/>
            </p:nvSpPr>
            <p:spPr>
              <a:xfrm>
                <a:off x="1141412" y="2947986"/>
                <a:ext cx="584200" cy="64452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sp>
        <p:nvSpPr>
          <p:cNvPr id="24" name="Shape 24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8" name="Shape 38"/>
          <p:cNvGrpSpPr/>
          <p:nvPr/>
        </p:nvGrpSpPr>
        <p:grpSpPr>
          <a:xfrm>
            <a:off x="0" y="0"/>
            <a:ext cx="9143999" cy="546099"/>
            <a:chOff x="0" y="0"/>
            <a:chExt cx="9143999" cy="546099"/>
          </a:xfrm>
        </p:grpSpPr>
        <p:sp>
          <p:nvSpPr>
            <p:cNvPr id="39" name="Shape 39"/>
            <p:cNvSpPr txBox="1"/>
            <p:nvPr/>
          </p:nvSpPr>
          <p:spPr>
            <a:xfrm>
              <a:off x="0" y="0"/>
              <a:ext cx="285750" cy="533399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0" name="Shape 40"/>
            <p:cNvSpPr txBox="1"/>
            <p:nvPr/>
          </p:nvSpPr>
          <p:spPr>
            <a:xfrm>
              <a:off x="412750" y="134936"/>
              <a:ext cx="8731249" cy="274636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1" name="Shape 41"/>
            <p:cNvSpPr txBox="1"/>
            <p:nvPr/>
          </p:nvSpPr>
          <p:spPr>
            <a:xfrm>
              <a:off x="409575" y="134936"/>
              <a:ext cx="138112" cy="14128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2" name="Shape 42"/>
            <p:cNvSpPr txBox="1"/>
            <p:nvPr/>
          </p:nvSpPr>
          <p:spPr>
            <a:xfrm>
              <a:off x="547687" y="0"/>
              <a:ext cx="139699" cy="13811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3" name="Shape 43"/>
            <p:cNvSpPr txBox="1"/>
            <p:nvPr/>
          </p:nvSpPr>
          <p:spPr>
            <a:xfrm>
              <a:off x="547687" y="134936"/>
              <a:ext cx="139699" cy="1412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4" name="Shape 44"/>
            <p:cNvSpPr txBox="1"/>
            <p:nvPr/>
          </p:nvSpPr>
          <p:spPr>
            <a:xfrm>
              <a:off x="274637" y="274637"/>
              <a:ext cx="136524" cy="13811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5" name="Shape 45"/>
            <p:cNvSpPr txBox="1"/>
            <p:nvPr/>
          </p:nvSpPr>
          <p:spPr>
            <a:xfrm>
              <a:off x="131761" y="136525"/>
              <a:ext cx="141287" cy="1381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6" name="Shape 46"/>
            <p:cNvSpPr txBox="1"/>
            <p:nvPr/>
          </p:nvSpPr>
          <p:spPr>
            <a:xfrm>
              <a:off x="409575" y="271462"/>
              <a:ext cx="138112" cy="1381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7" name="Shape 47"/>
            <p:cNvSpPr txBox="1"/>
            <p:nvPr/>
          </p:nvSpPr>
          <p:spPr>
            <a:xfrm>
              <a:off x="274637" y="409575"/>
              <a:ext cx="136524" cy="1365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0002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  <a:defRPr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lvl="1" indent="-1841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143000" marR="0" lvl="2" indent="-12953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00200" marR="0" lvl="3" indent="-14858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TLo (IRIDIA)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+mj-lt"/>
              </a:defRPr>
            </a:lvl1pPr>
          </a:lstStyle>
          <a:p>
            <a:pPr>
              <a:defRPr/>
            </a:pPr>
            <a:fld id="{2CA22C2B-E2CD-4DBD-8AEB-0316AEBFB8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18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18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18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18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18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18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0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BE52D71-0299-4491-931C-C7B1895571C4}" type="datetime4">
              <a:rPr lang="en-US" altLang="en-US"/>
              <a:pPr>
                <a:defRPr/>
              </a:pPr>
              <a:t>January 30, 2017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6694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anose="020B0A04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anose="020B0A04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anose="020B0A04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anose="020B0A040201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anose="020B0A040201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anose="020B0A040201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anose="020B0A040201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anose="020B0A040201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.uk/maps/dir/Colinton+Rd,+Edinburgh+EH13+0NR/Jokkmokk,+Sweden/@58.4503761,-0.5269327,5z/data=!3m1!4b1!4m13!4m12!1m5!1m1!1s0x4887c6e1fc7511a3:0x7d6455b49921e27e!2m2!1d-3.2374809!2d55.9224894!1m5!1m1!1s0x45d7b6d15dc7a30d:0xd77ac17171b50d5b!2m2!1d19.8229206!2d66.6069609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oogle.co.uk/maps/dir/Colinton+Rd,+Edinburgh+EH13+0NR/Lyon,+France/@50.0940616,3.7574207,5.5z/data=!4m14!4m13!1m5!1m1!1s0x4887c6e1fc7511a3:0x7d6455b49921e27e!2m2!1d-3.2513122!2d55.9089101!1m5!1m1!1s0x47f4ea516ae88797:0x408ab2ae4bb21f0!2m2!1d4.835659!2d45.764043!3e4" TargetMode="External"/><Relationship Id="rId4" Type="http://schemas.openxmlformats.org/officeDocument/2006/relationships/hyperlink" Target="https://www.google.co.uk/maps/dir/10+Colinton+Rd,+Edinburgh+EH10+5DT/Vatra+Dornei,+Romania/@50.3705333,9.1793875,5.5z/data=!4m13!4m12!1m5!1m1!1s0x4887c7094a20e4af:0x11c2e386b731bd09!2m2!1d-3.2140611!2d55.9332035!1m5!1m1!1s0x473593b2313399d9:0xe49405b751778c57!2m2!1d25.3521039!2d47.3447576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7.jpeg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ctrTitle"/>
          </p:nvPr>
        </p:nvSpPr>
        <p:spPr>
          <a:xfrm>
            <a:off x="2971800" y="1828800"/>
            <a:ext cx="6019799" cy="22097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 Black"/>
              <a:buNone/>
            </a:pPr>
            <a:r>
              <a:rPr lang="en-US" sz="42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Artificial intelligence</a:t>
            </a:r>
            <a:r>
              <a:rPr lang="en-US"/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 Black"/>
              <a:buNone/>
            </a:pPr>
            <a:r>
              <a:rPr lang="en-US"/>
              <a:t>I</a:t>
            </a:r>
            <a:r>
              <a:rPr lang="en-US" sz="42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nformed </a:t>
            </a:r>
            <a:r>
              <a:rPr lang="en-US"/>
              <a:t>S</a:t>
            </a:r>
            <a:r>
              <a:rPr lang="en-US" sz="42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earch</a:t>
            </a:r>
          </a:p>
        </p:txBody>
      </p:sp>
      <p:sp>
        <p:nvSpPr>
          <p:cNvPr id="157" name="Shape 157"/>
          <p:cNvSpPr txBox="1">
            <a:spLocks noGrp="1"/>
          </p:cNvSpPr>
          <p:nvPr>
            <p:ph type="subTitle" idx="1"/>
          </p:nvPr>
        </p:nvSpPr>
        <p:spPr>
          <a:xfrm>
            <a:off x="2971800" y="4267200"/>
            <a:ext cx="6019799" cy="1752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 Slides by: Tom Lenaerts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 de Recherches Interdisciplinaires et de Développements en Intelligence Artificielle (IRIDIA)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Université Libre de Bruxelles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for Edinburgh Napier University by Christopher 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/>
          <p:nvPr/>
        </p:nvSpPr>
        <p:spPr>
          <a:xfrm>
            <a:off x="3124200" y="6248400"/>
            <a:ext cx="3824287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Adapted for Edinburgh Napier by C. Stone</a:t>
            </a:r>
          </a:p>
        </p:txBody>
      </p:sp>
      <p:sp>
        <p:nvSpPr>
          <p:cNvPr id="164" name="Shape 164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5" name="Shape 165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166" name="Shape 166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Outline</a:t>
            </a:r>
          </a:p>
        </p:txBody>
      </p:sp>
      <p:sp>
        <p:nvSpPr>
          <p:cNvPr id="167" name="Shape 167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Informed = use problem-specific knowledge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search strategies?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9999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Best-first search and its variants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Heuristic functions?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A*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9999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How to invent them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search and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173" name="Shape 173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4" name="Shape 174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175" name="Shape 175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Previously: tree-search</a:t>
            </a:r>
          </a:p>
        </p:txBody>
      </p:sp>
      <p:sp>
        <p:nvSpPr>
          <p:cNvPr id="176" name="Shape 176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TREE-SEARCH(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problem,fringe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solution or failure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fringe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INSERT(MAKE-NODE(INITIAL-STATE[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]),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fringe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 do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EMPTY?(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fringe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return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REMOVE-FIRST(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fringe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GOAL-TEST[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applied to STATE[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succeeds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return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SOLUTION(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fringe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INSERT-ALL(EXPAND(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fringe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strategy is defined by picking </a:t>
            </a:r>
            <a:r>
              <a:rPr lang="en-US" sz="3000" b="0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order of node expansion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182" name="Shape 182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3" name="Shape 183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184" name="Shape 184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Best-first search	</a:t>
            </a:r>
          </a:p>
        </p:txBody>
      </p:sp>
      <p:sp>
        <p:nvSpPr>
          <p:cNvPr id="185" name="Shape 185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approach of informed search: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8888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Best-first search: node is selected for expansion based on an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evaluation function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f(n)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Idea: evaluation function measures distance to the goal. 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9999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Choose node which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appears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best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Implementation: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fringe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is queue sorted in decreasing order of desirability.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9999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Special cases: greedy search, A* 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191" name="Shape 191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2" name="Shape 192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193" name="Shape 193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 heuristic function</a:t>
            </a:r>
          </a:p>
        </p:txBody>
      </p:sp>
      <p:sp>
        <p:nvSpPr>
          <p:cNvPr id="194" name="Shape 194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[dictionary]</a:t>
            </a:r>
            <a:r>
              <a:rPr lang="en-US" sz="3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lang="en-US" sz="3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rule of thumb, simplification, or educated  guess that reduces or limits the search for solutions in  domains that are difficult and poorly understood.”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h(n)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= estimated cost of the cheapest path from node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to goal node.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is goal then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h(n)=0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25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information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5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B3C0AB-D234-4DC5-95E1-84A5E21972F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11268" name="Date Placeholder 7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ED18FB-DA68-4FC3-B979-55C14C18910D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Romania with step costs in km</a:t>
            </a:r>
          </a:p>
        </p:txBody>
      </p:sp>
      <p:pic>
        <p:nvPicPr>
          <p:cNvPr id="11270" name="Picture 4" descr="romania-sld.jpg                                                00105F05IRIDIA                         BC96F375: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981200"/>
            <a:ext cx="3429000" cy="1584325"/>
          </a:xfrm>
        </p:spPr>
      </p:pic>
      <p:sp>
        <p:nvSpPr>
          <p:cNvPr id="11271" name="Rectangle 6"/>
          <p:cNvSpPr>
            <a:spLocks noGrp="1" noChangeArrowheads="1"/>
          </p:cNvSpPr>
          <p:nvPr>
            <p:ph type="body" sz="half" idx="3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00" i="1" smtClean="0"/>
              <a:t>h</a:t>
            </a:r>
            <a:r>
              <a:rPr lang="en-US" altLang="en-US" sz="2600" i="1" baseline="-25000" smtClean="0"/>
              <a:t>SLD</a:t>
            </a:r>
            <a:r>
              <a:rPr lang="en-US" altLang="en-US" sz="2600" smtClean="0"/>
              <a:t>=straight-line distance heuristic.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i="1" smtClean="0"/>
              <a:t>h</a:t>
            </a:r>
            <a:r>
              <a:rPr lang="en-US" altLang="en-US" sz="2600" i="1" baseline="-25000" smtClean="0"/>
              <a:t>SLD</a:t>
            </a:r>
            <a:r>
              <a:rPr lang="en-US" altLang="en-US" sz="2600" smtClean="0"/>
              <a:t> can </a:t>
            </a:r>
            <a:r>
              <a:rPr lang="en-US" altLang="en-US" sz="2600" b="1" smtClean="0"/>
              <a:t>NOT</a:t>
            </a:r>
            <a:r>
              <a:rPr lang="en-US" altLang="en-US" sz="2600" smtClean="0"/>
              <a:t> be computed from the problem description itself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smtClean="0"/>
              <a:t>In this example </a:t>
            </a:r>
            <a:r>
              <a:rPr lang="en-US" altLang="en-US" sz="2600" i="1" smtClean="0"/>
              <a:t>f(n)=h(n)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smtClean="0"/>
              <a:t>Expand node that is closest to goal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smtClean="0"/>
              <a:t>= Greedy best-first search</a:t>
            </a:r>
          </a:p>
        </p:txBody>
      </p:sp>
      <p:pic>
        <p:nvPicPr>
          <p:cNvPr id="11272" name="Picture 7" descr="romania-distances.jpg                                          00105F05IRIDIA                         BC96F375: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3657600"/>
            <a:ext cx="3644900" cy="2195513"/>
          </a:xfrm>
        </p:spPr>
      </p:pic>
    </p:spTree>
    <p:extLst>
      <p:ext uri="{BB962C8B-B14F-4D97-AF65-F5344CB8AC3E}">
        <p14:creationId xmlns:p14="http://schemas.microsoft.com/office/powerpoint/2010/main" val="3996509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33C0C9-F539-48CE-B704-05E61FE8956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12292" name="Date Placeholder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E250E6E-00F7-4043-A084-613933F896D4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Greedy search example</a:t>
            </a:r>
          </a:p>
        </p:txBody>
      </p:sp>
      <p:sp>
        <p:nvSpPr>
          <p:cNvPr id="12294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 altLang="en-US" sz="2600" smtClean="0"/>
              <a:t>Assume that we want to use greedy search to solve the problem of travelling from Arad to Bucharest.</a:t>
            </a:r>
          </a:p>
          <a:p>
            <a:pPr eaLnBrk="1" hangingPunct="1"/>
            <a:r>
              <a:rPr lang="en-US" altLang="en-US" sz="2600" smtClean="0"/>
              <a:t>The initial state=Arad</a:t>
            </a:r>
          </a:p>
        </p:txBody>
      </p:sp>
      <p:pic>
        <p:nvPicPr>
          <p:cNvPr id="12295" name="Picture 5" descr="greedy-progressA.pdf                                           00105F05IRIDIA                         BC96F375: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578100"/>
            <a:ext cx="8229600" cy="671513"/>
          </a:xfrm>
        </p:spPr>
      </p:pic>
      <p:sp>
        <p:nvSpPr>
          <p:cNvPr id="12296" name="Text Box 6"/>
          <p:cNvSpPr txBox="1">
            <a:spLocks noChangeArrowheads="1"/>
          </p:cNvSpPr>
          <p:nvPr/>
        </p:nvSpPr>
        <p:spPr bwMode="auto">
          <a:xfrm>
            <a:off x="3886200" y="2209800"/>
            <a:ext cx="1530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Arad (366)</a:t>
            </a:r>
          </a:p>
        </p:txBody>
      </p:sp>
    </p:spTree>
    <p:extLst>
      <p:ext uri="{BB962C8B-B14F-4D97-AF65-F5344CB8AC3E}">
        <p14:creationId xmlns:p14="http://schemas.microsoft.com/office/powerpoint/2010/main" val="890883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A4F72D-9439-4B0D-A062-DDD92EF315E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13316" name="Date Placeholder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D5140-07CD-419A-863A-CD3F45968FDF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Greedy search example</a:t>
            </a:r>
          </a:p>
        </p:txBody>
      </p:sp>
      <p:sp>
        <p:nvSpPr>
          <p:cNvPr id="13318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 altLang="en-US" sz="2600" smtClean="0"/>
              <a:t>The first expansion step produces:</a:t>
            </a:r>
          </a:p>
          <a:p>
            <a:pPr lvl="1" eaLnBrk="1" hangingPunct="1"/>
            <a:r>
              <a:rPr lang="en-US" altLang="en-US" sz="1800" smtClean="0"/>
              <a:t>Sibiu, Timisoara and Zerind</a:t>
            </a:r>
          </a:p>
          <a:p>
            <a:pPr eaLnBrk="1" hangingPunct="1"/>
            <a:r>
              <a:rPr lang="en-US" altLang="en-US" sz="2600" smtClean="0"/>
              <a:t>Greedy best-first will select Sibiu.</a:t>
            </a:r>
          </a:p>
        </p:txBody>
      </p:sp>
      <p:pic>
        <p:nvPicPr>
          <p:cNvPr id="13319" name="Picture 5" descr="greedy-progressB.pdf                                           00105F05IRIDIA                         BC96F375: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981200"/>
            <a:ext cx="8229600" cy="1865313"/>
          </a:xfrm>
        </p:spPr>
      </p:pic>
      <p:sp>
        <p:nvSpPr>
          <p:cNvPr id="13320" name="Text Box 6"/>
          <p:cNvSpPr txBox="1">
            <a:spLocks noChangeArrowheads="1"/>
          </p:cNvSpPr>
          <p:nvPr/>
        </p:nvSpPr>
        <p:spPr bwMode="auto">
          <a:xfrm>
            <a:off x="3962400" y="1752600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Arad</a:t>
            </a:r>
          </a:p>
        </p:txBody>
      </p:sp>
      <p:sp>
        <p:nvSpPr>
          <p:cNvPr id="13321" name="Text Box 7"/>
          <p:cNvSpPr txBox="1">
            <a:spLocks noChangeArrowheads="1"/>
          </p:cNvSpPr>
          <p:nvPr/>
        </p:nvSpPr>
        <p:spPr bwMode="auto">
          <a:xfrm>
            <a:off x="1812925" y="2574925"/>
            <a:ext cx="1487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Sibiu(253)</a:t>
            </a:r>
          </a:p>
        </p:txBody>
      </p:sp>
      <p:sp>
        <p:nvSpPr>
          <p:cNvPr id="13322" name="Text Box 8"/>
          <p:cNvSpPr txBox="1">
            <a:spLocks noChangeArrowheads="1"/>
          </p:cNvSpPr>
          <p:nvPr/>
        </p:nvSpPr>
        <p:spPr bwMode="auto">
          <a:xfrm>
            <a:off x="5334000" y="3352800"/>
            <a:ext cx="14176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Timisoara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(329)</a:t>
            </a:r>
          </a:p>
        </p:txBody>
      </p:sp>
      <p:sp>
        <p:nvSpPr>
          <p:cNvPr id="13323" name="Text Box 9"/>
          <p:cNvSpPr txBox="1">
            <a:spLocks noChangeArrowheads="1"/>
          </p:cNvSpPr>
          <p:nvPr/>
        </p:nvSpPr>
        <p:spPr bwMode="auto">
          <a:xfrm>
            <a:off x="7375525" y="2422525"/>
            <a:ext cx="1655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Zerind(374)</a:t>
            </a:r>
          </a:p>
        </p:txBody>
      </p:sp>
    </p:spTree>
    <p:extLst>
      <p:ext uri="{BB962C8B-B14F-4D97-AF65-F5344CB8AC3E}">
        <p14:creationId xmlns:p14="http://schemas.microsoft.com/office/powerpoint/2010/main" val="2585433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6614B1-5402-40B4-8B1C-0D9C2D6C1B9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14340" name="Date Placeholder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2CEB5F-77ED-4ED2-A17A-715B9C8EC2B7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Greedy search example</a:t>
            </a:r>
          </a:p>
        </p:txBody>
      </p:sp>
      <p:sp>
        <p:nvSpPr>
          <p:cNvPr id="14342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endParaRPr lang="en-US" altLang="en-US" sz="2600" smtClean="0"/>
          </a:p>
          <a:p>
            <a:pPr eaLnBrk="1" hangingPunct="1"/>
            <a:r>
              <a:rPr lang="en-US" altLang="en-US" sz="2600" smtClean="0"/>
              <a:t>If Sibiu is expanded we get:</a:t>
            </a:r>
          </a:p>
          <a:p>
            <a:pPr lvl="1" eaLnBrk="1" hangingPunct="1"/>
            <a:r>
              <a:rPr lang="en-US" altLang="en-US" sz="1800" smtClean="0"/>
              <a:t>Arad, Fagaras, Oradea and Rimnicu Vilcea</a:t>
            </a:r>
          </a:p>
          <a:p>
            <a:pPr eaLnBrk="1" hangingPunct="1"/>
            <a:r>
              <a:rPr lang="en-US" altLang="en-US" sz="2600" smtClean="0"/>
              <a:t>Greedy best-first search will select: Fagaras</a:t>
            </a:r>
          </a:p>
        </p:txBody>
      </p:sp>
      <p:pic>
        <p:nvPicPr>
          <p:cNvPr id="14343" name="Picture 5" descr="greedy-progressC.pdf                                           00105F05IRIDIA                         BC96F375: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6400" y="1981200"/>
            <a:ext cx="5842000" cy="1866900"/>
          </a:xfrm>
        </p:spPr>
      </p:pic>
      <p:sp>
        <p:nvSpPr>
          <p:cNvPr id="14344" name="Text Box 6"/>
          <p:cNvSpPr txBox="1">
            <a:spLocks noChangeArrowheads="1"/>
          </p:cNvSpPr>
          <p:nvPr/>
        </p:nvSpPr>
        <p:spPr bwMode="auto">
          <a:xfrm>
            <a:off x="5029200" y="1828800"/>
            <a:ext cx="64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Arad</a:t>
            </a:r>
          </a:p>
        </p:txBody>
      </p:sp>
      <p:sp>
        <p:nvSpPr>
          <p:cNvPr id="14345" name="Text Box 7"/>
          <p:cNvSpPr txBox="1">
            <a:spLocks noChangeArrowheads="1"/>
          </p:cNvSpPr>
          <p:nvPr/>
        </p:nvSpPr>
        <p:spPr bwMode="auto">
          <a:xfrm>
            <a:off x="2590800" y="2362200"/>
            <a:ext cx="892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Sibiu</a:t>
            </a:r>
          </a:p>
        </p:txBody>
      </p:sp>
      <p:sp>
        <p:nvSpPr>
          <p:cNvPr id="14346" name="Text Box 8"/>
          <p:cNvSpPr txBox="1">
            <a:spLocks noChangeArrowheads="1"/>
          </p:cNvSpPr>
          <p:nvPr/>
        </p:nvSpPr>
        <p:spPr bwMode="auto">
          <a:xfrm>
            <a:off x="1143000" y="3352800"/>
            <a:ext cx="679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Arad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(366)</a:t>
            </a:r>
          </a:p>
        </p:txBody>
      </p:sp>
      <p:sp>
        <p:nvSpPr>
          <p:cNvPr id="14347" name="Text Box 9"/>
          <p:cNvSpPr txBox="1">
            <a:spLocks noChangeArrowheads="1"/>
          </p:cNvSpPr>
          <p:nvPr/>
        </p:nvSpPr>
        <p:spPr bwMode="auto">
          <a:xfrm>
            <a:off x="2286000" y="3505200"/>
            <a:ext cx="895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Fagaras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(176)</a:t>
            </a:r>
          </a:p>
        </p:txBody>
      </p:sp>
      <p:sp>
        <p:nvSpPr>
          <p:cNvPr id="14348" name="Text Box 10"/>
          <p:cNvSpPr txBox="1">
            <a:spLocks noChangeArrowheads="1"/>
          </p:cNvSpPr>
          <p:nvPr/>
        </p:nvSpPr>
        <p:spPr bwMode="auto">
          <a:xfrm>
            <a:off x="3352800" y="3505200"/>
            <a:ext cx="844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Oradea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(380)</a:t>
            </a:r>
          </a:p>
        </p:txBody>
      </p:sp>
      <p:sp>
        <p:nvSpPr>
          <p:cNvPr id="14349" name="Text Box 11"/>
          <p:cNvSpPr txBox="1">
            <a:spLocks noChangeArrowheads="1"/>
          </p:cNvSpPr>
          <p:nvPr/>
        </p:nvSpPr>
        <p:spPr bwMode="auto">
          <a:xfrm>
            <a:off x="4419600" y="3429000"/>
            <a:ext cx="1625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Rimnicu Vilcea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(193)</a:t>
            </a:r>
          </a:p>
        </p:txBody>
      </p:sp>
    </p:spTree>
    <p:extLst>
      <p:ext uri="{BB962C8B-B14F-4D97-AF65-F5344CB8AC3E}">
        <p14:creationId xmlns:p14="http://schemas.microsoft.com/office/powerpoint/2010/main" val="393307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CE218A-AD99-42D1-83FA-4F444314685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15364" name="Date Placeholder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8595FC-14F2-413D-9F7E-2F7DC360262D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Greedy search example</a:t>
            </a:r>
          </a:p>
        </p:txBody>
      </p:sp>
      <p:sp>
        <p:nvSpPr>
          <p:cNvPr id="15366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22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If Fagaras is expanded we get: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smtClean="0"/>
              <a:t>Sibiu and Bucharest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Goal reached !!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smtClean="0"/>
              <a:t>Yet not optimal (see Arad, Sibiu, Rimnicu Vilcea, Pitesti)</a:t>
            </a:r>
          </a:p>
        </p:txBody>
      </p:sp>
      <p:pic>
        <p:nvPicPr>
          <p:cNvPr id="15367" name="Picture 5" descr="greedy-progressD.pdf                                           00105F05IRIDIA                         BC96F375: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1600" y="1714500"/>
            <a:ext cx="5688013" cy="2133600"/>
          </a:xfrm>
        </p:spPr>
      </p:pic>
      <p:sp>
        <p:nvSpPr>
          <p:cNvPr id="15368" name="Text Box 6"/>
          <p:cNvSpPr txBox="1">
            <a:spLocks noChangeArrowheads="1"/>
          </p:cNvSpPr>
          <p:nvPr/>
        </p:nvSpPr>
        <p:spPr bwMode="auto">
          <a:xfrm>
            <a:off x="4860925" y="1576388"/>
            <a:ext cx="641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Arad</a:t>
            </a:r>
          </a:p>
        </p:txBody>
      </p:sp>
      <p:sp>
        <p:nvSpPr>
          <p:cNvPr id="15369" name="Text Box 7"/>
          <p:cNvSpPr txBox="1">
            <a:spLocks noChangeArrowheads="1"/>
          </p:cNvSpPr>
          <p:nvPr/>
        </p:nvSpPr>
        <p:spPr bwMode="auto">
          <a:xfrm>
            <a:off x="2286000" y="2057400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Sibiu</a:t>
            </a:r>
          </a:p>
        </p:txBody>
      </p:sp>
      <p:sp>
        <p:nvSpPr>
          <p:cNvPr id="15370" name="Text Box 8"/>
          <p:cNvSpPr txBox="1">
            <a:spLocks noChangeArrowheads="1"/>
          </p:cNvSpPr>
          <p:nvPr/>
        </p:nvSpPr>
        <p:spPr bwMode="auto">
          <a:xfrm>
            <a:off x="2651125" y="3100388"/>
            <a:ext cx="895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Fagaras</a:t>
            </a: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</p:txBody>
      </p:sp>
      <p:sp>
        <p:nvSpPr>
          <p:cNvPr id="15371" name="Text Box 9"/>
          <p:cNvSpPr txBox="1">
            <a:spLocks noChangeArrowheads="1"/>
          </p:cNvSpPr>
          <p:nvPr/>
        </p:nvSpPr>
        <p:spPr bwMode="auto">
          <a:xfrm>
            <a:off x="1219200" y="3581400"/>
            <a:ext cx="679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Sibiu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(253)</a:t>
            </a:r>
          </a:p>
        </p:txBody>
      </p:sp>
      <p:sp>
        <p:nvSpPr>
          <p:cNvPr id="15372" name="Text Box 10"/>
          <p:cNvSpPr txBox="1">
            <a:spLocks noChangeArrowheads="1"/>
          </p:cNvSpPr>
          <p:nvPr/>
        </p:nvSpPr>
        <p:spPr bwMode="auto">
          <a:xfrm>
            <a:off x="3048000" y="3581400"/>
            <a:ext cx="1098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Bucharest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(0)</a:t>
            </a:r>
          </a:p>
        </p:txBody>
      </p:sp>
      <p:sp>
        <p:nvSpPr>
          <p:cNvPr id="15373" name="Text Box 11"/>
          <p:cNvSpPr txBox="1">
            <a:spLocks noChangeArrowheads="1"/>
          </p:cNvSpPr>
          <p:nvPr/>
        </p:nvSpPr>
        <p:spPr bwMode="auto">
          <a:xfrm>
            <a:off x="1889125" y="3489325"/>
            <a:ext cx="1841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2515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ABB349-4BD5-4EB1-A247-2654718F1DB3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2048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961291-7E98-462E-B60A-6A40B2C592F6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A* search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Best-known form of best-first search.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Idea: avoid expanding paths that are already expensive.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Evaluation function </a:t>
            </a:r>
            <a:r>
              <a:rPr lang="en-US" altLang="en-US" i="1" smtClean="0"/>
              <a:t>f(n)=g(n) + h(n)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 smtClean="0"/>
              <a:t>g(n)</a:t>
            </a:r>
            <a:r>
              <a:rPr lang="en-US" altLang="en-US" smtClean="0"/>
              <a:t> the cost (so far) to reach the node.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 smtClean="0"/>
              <a:t>h(n)</a:t>
            </a:r>
            <a:r>
              <a:rPr lang="en-US" altLang="en-US" smtClean="0"/>
              <a:t> estimated cost to get from the node to the goal.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 smtClean="0"/>
              <a:t>f(n)</a:t>
            </a:r>
            <a:r>
              <a:rPr lang="en-US" altLang="en-US" smtClean="0"/>
              <a:t> estimated total cost of path through </a:t>
            </a:r>
            <a:r>
              <a:rPr lang="en-US" altLang="en-US" i="1" smtClean="0"/>
              <a:t>n</a:t>
            </a:r>
            <a:r>
              <a:rPr lang="en-US" altLang="en-US" smtClean="0"/>
              <a:t> to goal. 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42862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279" name="Shape 279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12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0" name="Shape 280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281" name="Shape 281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Greedy search, evaluation</a:t>
            </a:r>
          </a:p>
        </p:txBody>
      </p:sp>
      <p:sp>
        <p:nvSpPr>
          <p:cNvPr id="282" name="Shape 282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Completeness: NO (cfr. DF-search)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complexity?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Cfr. Worst-case DF-search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25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(with m is maximum depth of search space)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Good heuristic can give dramatic improvement.</a:t>
            </a:r>
          </a:p>
        </p:txBody>
      </p:sp>
      <p:pic>
        <p:nvPicPr>
          <p:cNvPr id="283" name="Shape 2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1600" y="2976561"/>
            <a:ext cx="990599" cy="465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289" name="Shape 289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13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0" name="Shape 290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291" name="Shape 291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Greedy search, evaluation</a:t>
            </a:r>
          </a:p>
        </p:txBody>
      </p:sp>
      <p:sp>
        <p:nvSpPr>
          <p:cNvPr id="292" name="Shape 292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Completeness: NO (cfr. DF-search)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complexity: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complexity: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Keeps all nodes in memory</a:t>
            </a:r>
          </a:p>
        </p:txBody>
      </p:sp>
      <p:pic>
        <p:nvPicPr>
          <p:cNvPr id="293" name="Shape 2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2590800"/>
            <a:ext cx="990599" cy="465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Shape 2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3124200"/>
            <a:ext cx="990599" cy="465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14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1" name="Shape 301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302" name="Shape 302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Greedy search, evaluation</a:t>
            </a:r>
          </a:p>
        </p:txBody>
      </p:sp>
      <p:sp>
        <p:nvSpPr>
          <p:cNvPr id="303" name="Shape 303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Completeness: NO (cfr. DF-search)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complexity: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complexity: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Optimality? NO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Same as DF-search</a:t>
            </a:r>
          </a:p>
        </p:txBody>
      </p:sp>
      <p:pic>
        <p:nvPicPr>
          <p:cNvPr id="304" name="Shape 3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2590800"/>
            <a:ext cx="990599" cy="465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Shape 3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3124200"/>
            <a:ext cx="990599" cy="465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311" name="Shape 311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15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2" name="Shape 312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313" name="Shape 313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Pathfinding</a:t>
            </a:r>
          </a:p>
        </p:txBody>
      </p:sp>
      <p:sp>
        <p:nvSpPr>
          <p:cNvPr id="314" name="Shape 314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problems yet to be solved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Edinburgh-Sweden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Edinburgh-Romania</a:t>
            </a: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Edinburgh-France</a:t>
            </a: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endParaRPr sz="3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Pathfinding methods are applicable to abstract problems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3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320" name="Shape 320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16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1" name="Shape 321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322" name="Shape 322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A* search</a:t>
            </a:r>
          </a:p>
        </p:txBody>
      </p:sp>
      <p:sp>
        <p:nvSpPr>
          <p:cNvPr id="323" name="Shape 323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Best-known form of best-first search.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Idea: avoid expanding paths that are more expensive.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function </a:t>
            </a:r>
            <a:r>
              <a:rPr lang="en-US" sz="3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f(n)=g(n) + h(n)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g(n)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the cost (so far) to reach the node.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h(n)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estimated cost to get from the node to the goal.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f(n)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estimated total cost of path through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to goal. </a:t>
            </a: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32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329" name="Shape 329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17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0" name="Shape 330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331" name="Shape 331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A* search</a:t>
            </a:r>
          </a:p>
        </p:txBody>
      </p:sp>
      <p:sp>
        <p:nvSpPr>
          <p:cNvPr id="332" name="Shape 332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A* search uses an admissible heuristic 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 heuristic is admissible if it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never overestimates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the cost to reach the goal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Are optimistic 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endParaRPr sz="3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Formally: </a:t>
            </a:r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1.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h(n) &lt;= h*(n)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where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h*(n)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true cost from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2.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h(n) &gt;= 0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h(G)=0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any goal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SLD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(n)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never overestimates the actual road distance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9231CF-DD6A-4EBC-9C08-F0874FCAFE7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22532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C22215-67CE-41EB-8D7C-595B958281DC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Romania example</a:t>
            </a:r>
          </a:p>
        </p:txBody>
      </p:sp>
      <p:pic>
        <p:nvPicPr>
          <p:cNvPr id="22534" name="Picture 4" descr="romania-distances.jpg                                          00105F05IRIDIA                         BC96F375: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720850"/>
            <a:ext cx="7086600" cy="4270375"/>
          </a:xfrm>
        </p:spPr>
      </p:pic>
    </p:spTree>
    <p:extLst>
      <p:ext uri="{BB962C8B-B14F-4D97-AF65-F5344CB8AC3E}">
        <p14:creationId xmlns:p14="http://schemas.microsoft.com/office/powerpoint/2010/main" val="3607287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5D93F5-ABFD-49D1-82F0-B1E69264840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23556" name="Date Placeholder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2B4924-BDF5-4D26-AAE1-AE124DD48094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A* search example</a:t>
            </a:r>
          </a:p>
        </p:txBody>
      </p:sp>
      <p:sp>
        <p:nvSpPr>
          <p:cNvPr id="23558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 altLang="en-US" sz="2600" smtClean="0"/>
              <a:t>Find Bucharest starting at Arad</a:t>
            </a:r>
          </a:p>
          <a:p>
            <a:pPr lvl="1" eaLnBrk="1" hangingPunct="1"/>
            <a:r>
              <a:rPr lang="en-US" altLang="en-US" sz="1800" smtClean="0"/>
              <a:t>f(Arad) = c(??,Arad)+h(Arad)=0+366=366</a:t>
            </a:r>
          </a:p>
        </p:txBody>
      </p:sp>
      <p:pic>
        <p:nvPicPr>
          <p:cNvPr id="23559" name="Picture 5" descr="astar-progressA.tiff                                           00105F05IRIDIA                         BC96F375: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2209800"/>
            <a:ext cx="8458200" cy="525463"/>
          </a:xfrm>
        </p:spPr>
      </p:pic>
    </p:spTree>
    <p:extLst>
      <p:ext uri="{BB962C8B-B14F-4D97-AF65-F5344CB8AC3E}">
        <p14:creationId xmlns:p14="http://schemas.microsoft.com/office/powerpoint/2010/main" val="3638682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4C811F-0134-4D96-BE4E-828EF0FBC4F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24580" name="Date Placeholder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B80AC4-E8B2-4D41-9520-CB82C7691030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A* search example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 altLang="en-US" sz="2200" smtClean="0"/>
              <a:t>Expand Arrad and determine </a:t>
            </a:r>
            <a:r>
              <a:rPr lang="en-US" altLang="en-US" sz="2200" i="1" smtClean="0"/>
              <a:t>f(n)</a:t>
            </a:r>
            <a:r>
              <a:rPr lang="en-US" altLang="en-US" sz="2200" smtClean="0"/>
              <a:t> for each node</a:t>
            </a:r>
          </a:p>
          <a:p>
            <a:pPr lvl="1" eaLnBrk="1" hangingPunct="1"/>
            <a:r>
              <a:rPr lang="en-US" altLang="en-US" sz="1600" smtClean="0"/>
              <a:t>f(Sibiu)=c(Arad,Sibiu)+h(Sibiu)=140+253=393</a:t>
            </a:r>
          </a:p>
          <a:p>
            <a:pPr lvl="1" eaLnBrk="1" hangingPunct="1"/>
            <a:r>
              <a:rPr lang="en-US" altLang="en-US" sz="1600" smtClean="0"/>
              <a:t>f(Timisoara)=c(Arad,Timisoara)+h(Timisoara)=118+329=447</a:t>
            </a:r>
          </a:p>
          <a:p>
            <a:pPr lvl="1" eaLnBrk="1" hangingPunct="1"/>
            <a:r>
              <a:rPr lang="en-US" altLang="en-US" sz="1600" smtClean="0"/>
              <a:t>f(Zerind)=c(Arad,Zerind)+h(Zerind)=75+374=449</a:t>
            </a:r>
          </a:p>
          <a:p>
            <a:pPr eaLnBrk="1" hangingPunct="1"/>
            <a:r>
              <a:rPr lang="en-US" altLang="en-US" sz="2200" smtClean="0"/>
              <a:t>Best choice is Sibiu</a:t>
            </a:r>
          </a:p>
        </p:txBody>
      </p:sp>
      <p:pic>
        <p:nvPicPr>
          <p:cNvPr id="24583" name="Picture 6" descr="astar-progressB.tiff                                           00105F05IRIDIA                         BC96F375: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206625"/>
            <a:ext cx="8229600" cy="1416050"/>
          </a:xfrm>
        </p:spPr>
      </p:pic>
    </p:spTree>
    <p:extLst>
      <p:ext uri="{BB962C8B-B14F-4D97-AF65-F5344CB8AC3E}">
        <p14:creationId xmlns:p14="http://schemas.microsoft.com/office/powerpoint/2010/main" val="2971343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8B42C8-EC09-4442-A149-72D0ABC820F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25604" name="Date Placeholder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478A21-EDBF-4D0E-99A3-EFF208216215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A* search example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Expand Sibiu and determine </a:t>
            </a:r>
            <a:r>
              <a:rPr lang="en-US" altLang="en-US" sz="2000" i="1" smtClean="0"/>
              <a:t>f(n)</a:t>
            </a:r>
            <a:r>
              <a:rPr lang="en-US" altLang="en-US" sz="2000" smtClean="0"/>
              <a:t> for each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smtClean="0"/>
              <a:t>f(Arad)=c(Sibiu,Arad)+h(Arad)=280+366=646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smtClean="0"/>
              <a:t>f(Fagaras)=c(Sibiu,Fagaras)+h(Fagaras)=239+179=415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smtClean="0"/>
              <a:t>f(Oradea)=c(Sibiu,Oradea)+h(Oradea)=291+380=671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smtClean="0"/>
              <a:t>f(Rimnicu Vilcea)=c(Sibiu,Rimnicu Vilcea)+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400" smtClean="0"/>
              <a:t>					h(Rimnicu Vilcea)=220+192=413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Best choice is Rimnicu Vilcea</a:t>
            </a:r>
          </a:p>
        </p:txBody>
      </p:sp>
      <p:pic>
        <p:nvPicPr>
          <p:cNvPr id="25607" name="Picture 6" descr="astar-progressC.tiff                                           00105F05IRIDIA                         BC96F375: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2600" y="1981200"/>
            <a:ext cx="8177213" cy="1866900"/>
          </a:xfrm>
        </p:spPr>
      </p:pic>
    </p:spTree>
    <p:extLst>
      <p:ext uri="{BB962C8B-B14F-4D97-AF65-F5344CB8AC3E}">
        <p14:creationId xmlns:p14="http://schemas.microsoft.com/office/powerpoint/2010/main" val="1211959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AEF02F-6EFA-4EFA-8E4A-00746753AFD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26628" name="Date Placeholder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BAC36F-E139-48D4-9E4F-4734917B5B3F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A* search example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Expand Rimnicu Vilcea and determine </a:t>
            </a:r>
            <a:r>
              <a:rPr lang="en-US" altLang="en-US" sz="2000" i="1" smtClean="0"/>
              <a:t>f(n)</a:t>
            </a:r>
            <a:r>
              <a:rPr lang="en-US" altLang="en-US" sz="2000" smtClean="0"/>
              <a:t> for each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smtClean="0"/>
              <a:t>f(Craiova)=c(Rimnicu Vilcea, Craiova)+h(Craiova)=360+160=526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smtClean="0"/>
              <a:t>f(Pitesti)=c(Rimnicu Vilcea, Pitesti)+h(Pitesti)=317+100=417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smtClean="0"/>
              <a:t>f(Sibiu)=c(Rimnicu Vilcea,Sibiu)+h(Sibiu)=300+253=553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Best choice is Fagaras</a:t>
            </a:r>
          </a:p>
        </p:txBody>
      </p:sp>
      <p:pic>
        <p:nvPicPr>
          <p:cNvPr id="26631" name="Picture 6" descr="astar-progress.tiff                                            00105F05IRIDIA                         BC96F375: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604963"/>
            <a:ext cx="6523038" cy="2243137"/>
          </a:xfrm>
        </p:spPr>
      </p:pic>
    </p:spTree>
    <p:extLst>
      <p:ext uri="{BB962C8B-B14F-4D97-AF65-F5344CB8AC3E}">
        <p14:creationId xmlns:p14="http://schemas.microsoft.com/office/powerpoint/2010/main" val="4050271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5B1148A-DB98-40A0-8714-33B2861BC82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27652" name="Date Placeholder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2BFF8CF-FDFA-4B57-9050-A6CB81BB274E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A* search example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Expand Fagaras and determine </a:t>
            </a:r>
            <a:r>
              <a:rPr lang="en-US" altLang="en-US" sz="2000" i="1" smtClean="0"/>
              <a:t>f(n)</a:t>
            </a:r>
            <a:r>
              <a:rPr lang="en-US" altLang="en-US" sz="2000" smtClean="0"/>
              <a:t> for each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smtClean="0"/>
              <a:t>f(Sibiu)=c(Fagaras, Sibiu)+h(Sibiu)=338+253=591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i="1" smtClean="0"/>
              <a:t>f(Bucharest)=c(Fagaras,Bucharest)+h(Bucharest)=450+0=450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Best choice is Pitesti !!!</a:t>
            </a:r>
          </a:p>
        </p:txBody>
      </p:sp>
      <p:pic>
        <p:nvPicPr>
          <p:cNvPr id="27655" name="Picture 6" descr="astar-progressE.tiff                                           00105F05IRIDIA                         BC96F375: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600200"/>
            <a:ext cx="6383338" cy="2247900"/>
          </a:xfrm>
        </p:spPr>
      </p:pic>
    </p:spTree>
    <p:extLst>
      <p:ext uri="{BB962C8B-B14F-4D97-AF65-F5344CB8AC3E}">
        <p14:creationId xmlns:p14="http://schemas.microsoft.com/office/powerpoint/2010/main" val="2104235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3ADF54-8376-4007-AD01-16288410644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28676" name="Date Placeholder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B85F99-0F88-4B3B-934F-ED52E88E23A1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A* search example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smtClean="0"/>
              <a:t>Expand Pitesti and determine </a:t>
            </a:r>
            <a:r>
              <a:rPr lang="en-US" altLang="en-US" sz="1800" i="1" smtClean="0"/>
              <a:t>f(n)</a:t>
            </a:r>
            <a:r>
              <a:rPr lang="en-US" altLang="en-US" sz="1800" smtClean="0"/>
              <a:t> for each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200" i="1" smtClean="0"/>
              <a:t>f(Bucharest)=c(Pitesti,Bucharest)+h(Bucharest)=418+0=418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200" i="1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1800" smtClean="0"/>
              <a:t>Best choice is Bucharest !!!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300" smtClean="0"/>
              <a:t>Optimal solution (only if </a:t>
            </a:r>
            <a:r>
              <a:rPr lang="en-US" altLang="en-US" sz="1300" i="1" smtClean="0"/>
              <a:t>h(n)</a:t>
            </a:r>
            <a:r>
              <a:rPr lang="en-US" altLang="en-US" sz="1300" smtClean="0"/>
              <a:t> is admissable)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900" smtClean="0"/>
              <a:t>Note values along optimal path !!</a:t>
            </a:r>
          </a:p>
        </p:txBody>
      </p:sp>
      <p:pic>
        <p:nvPicPr>
          <p:cNvPr id="28679" name="Picture 6" descr="astar-progressF.tiff                                           00105F05IRIDIA                         BC96F375: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1619250"/>
            <a:ext cx="5243513" cy="2228850"/>
          </a:xfrm>
        </p:spPr>
      </p:pic>
    </p:spTree>
    <p:extLst>
      <p:ext uri="{BB962C8B-B14F-4D97-AF65-F5344CB8AC3E}">
        <p14:creationId xmlns:p14="http://schemas.microsoft.com/office/powerpoint/2010/main" val="789586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AC37FD-01C8-45B4-8E59-646D3D061D4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29700" name="Date Placeholder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C6906D-1B36-4588-BB4C-91DD674845FE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Optimality of A*(standard proof)</a:t>
            </a:r>
          </a:p>
        </p:txBody>
      </p:sp>
      <p:sp>
        <p:nvSpPr>
          <p:cNvPr id="29702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Suppose suboptimal goal </a:t>
            </a:r>
            <a:r>
              <a:rPr lang="en-US" altLang="en-US" sz="2200" i="1" smtClean="0"/>
              <a:t>G</a:t>
            </a:r>
            <a:r>
              <a:rPr lang="en-US" altLang="en-US" sz="2200" i="1" baseline="-25000" smtClean="0"/>
              <a:t>2</a:t>
            </a:r>
            <a:r>
              <a:rPr lang="en-US" altLang="en-US" sz="2200" smtClean="0"/>
              <a:t> in the queue.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Let </a:t>
            </a:r>
            <a:r>
              <a:rPr lang="en-US" altLang="en-US" sz="2200" i="1" smtClean="0"/>
              <a:t>n</a:t>
            </a:r>
            <a:r>
              <a:rPr lang="en-US" altLang="en-US" sz="2200" smtClean="0"/>
              <a:t> be an unexpanded node on a shortest to optimal goal </a:t>
            </a:r>
            <a:r>
              <a:rPr lang="en-US" altLang="en-US" sz="2200" i="1" smtClean="0"/>
              <a:t>G</a:t>
            </a:r>
            <a:r>
              <a:rPr lang="en-US" altLang="en-US" sz="2200" smtClean="0"/>
              <a:t>.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i="1" smtClean="0"/>
              <a:t>f(G</a:t>
            </a:r>
            <a:r>
              <a:rPr lang="en-US" altLang="en-US" sz="1800" i="1" baseline="-25000" smtClean="0"/>
              <a:t>2 </a:t>
            </a:r>
            <a:r>
              <a:rPr lang="en-US" altLang="en-US" sz="1800" i="1" smtClean="0"/>
              <a:t>) 	= g(G</a:t>
            </a:r>
            <a:r>
              <a:rPr lang="en-US" altLang="en-US" sz="1800" i="1" baseline="-25000" smtClean="0"/>
              <a:t>2 </a:t>
            </a:r>
            <a:r>
              <a:rPr lang="en-US" altLang="en-US" sz="1800" i="1" smtClean="0"/>
              <a:t>)</a:t>
            </a:r>
            <a:r>
              <a:rPr lang="en-US" altLang="en-US" sz="1800" smtClean="0"/>
              <a:t>		since </a:t>
            </a:r>
            <a:r>
              <a:rPr lang="en-US" altLang="en-US" sz="1800" i="1" smtClean="0"/>
              <a:t>h(G</a:t>
            </a:r>
            <a:r>
              <a:rPr lang="en-US" altLang="en-US" sz="1800" i="1" baseline="-25000" smtClean="0"/>
              <a:t>2 </a:t>
            </a:r>
            <a:r>
              <a:rPr lang="en-US" altLang="en-US" sz="1800" i="1" smtClean="0"/>
              <a:t>)=0</a:t>
            </a:r>
            <a:endParaRPr lang="en-US" altLang="en-US" sz="1800" smtClean="0"/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smtClean="0"/>
              <a:t>		</a:t>
            </a:r>
            <a:r>
              <a:rPr lang="en-US" altLang="en-US" sz="1800" i="1" smtClean="0"/>
              <a:t>&gt; g(G)</a:t>
            </a:r>
            <a:r>
              <a:rPr lang="en-US" altLang="en-US" sz="1800" smtClean="0"/>
              <a:t>		since </a:t>
            </a:r>
            <a:r>
              <a:rPr lang="en-US" altLang="en-US" sz="1800" i="1" smtClean="0"/>
              <a:t>G</a:t>
            </a:r>
            <a:r>
              <a:rPr lang="en-US" altLang="en-US" sz="1800" i="1" baseline="-25000" smtClean="0"/>
              <a:t>2</a:t>
            </a:r>
            <a:r>
              <a:rPr lang="en-US" altLang="en-US" sz="1800" smtClean="0"/>
              <a:t> is suboptimal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smtClean="0"/>
              <a:t>		</a:t>
            </a:r>
            <a:r>
              <a:rPr lang="en-US" altLang="en-US" sz="1800" i="1" smtClean="0"/>
              <a:t>&gt;= f(n)</a:t>
            </a:r>
            <a:r>
              <a:rPr lang="en-US" altLang="en-US" sz="1800" smtClean="0"/>
              <a:t>		since </a:t>
            </a:r>
            <a:r>
              <a:rPr lang="en-US" altLang="en-US" sz="1800" i="1" smtClean="0"/>
              <a:t>h</a:t>
            </a:r>
            <a:r>
              <a:rPr lang="en-US" altLang="en-US" sz="1800" smtClean="0"/>
              <a:t> is admissible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smtClean="0"/>
              <a:t>Since </a:t>
            </a:r>
            <a:r>
              <a:rPr lang="en-US" altLang="en-US" sz="1800" i="1" smtClean="0"/>
              <a:t>f(G</a:t>
            </a:r>
            <a:r>
              <a:rPr lang="en-US" altLang="en-US" sz="1800" i="1" baseline="-25000" smtClean="0"/>
              <a:t>2</a:t>
            </a:r>
            <a:r>
              <a:rPr lang="en-US" altLang="en-US" sz="1800" i="1" smtClean="0"/>
              <a:t>) &gt; f(n)</a:t>
            </a:r>
            <a:r>
              <a:rPr lang="en-US" altLang="en-US" sz="1800" smtClean="0"/>
              <a:t>, A* will never select </a:t>
            </a:r>
            <a:r>
              <a:rPr lang="en-US" altLang="en-US" sz="1800" i="1" smtClean="0"/>
              <a:t>G</a:t>
            </a:r>
            <a:r>
              <a:rPr lang="en-US" altLang="en-US" sz="1800" i="1" baseline="-25000" smtClean="0"/>
              <a:t>2</a:t>
            </a:r>
            <a:r>
              <a:rPr lang="en-US" altLang="en-US" sz="1800" smtClean="0"/>
              <a:t> for expansion</a:t>
            </a:r>
          </a:p>
        </p:txBody>
      </p:sp>
      <p:pic>
        <p:nvPicPr>
          <p:cNvPr id="29703" name="Picture 5" descr="astar-standard.jpg                                             00105F05IRIDIA                         BC96F375: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5600" y="1600200"/>
            <a:ext cx="3505200" cy="2455863"/>
          </a:xfrm>
        </p:spPr>
      </p:pic>
    </p:spTree>
    <p:extLst>
      <p:ext uri="{BB962C8B-B14F-4D97-AF65-F5344CB8AC3E}">
        <p14:creationId xmlns:p14="http://schemas.microsoft.com/office/powerpoint/2010/main" val="4189814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41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417" name="Shape 417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26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8" name="Shape 418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419" name="Shape 419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BUT … graph search </a:t>
            </a:r>
          </a:p>
        </p:txBody>
      </p:sp>
      <p:sp>
        <p:nvSpPr>
          <p:cNvPr id="420" name="Shape 420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Discards new paths to repeated state.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Previous proof breaks down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Add extra bookkeeping i.e. remove more </a:t>
            </a:r>
            <a:r>
              <a:rPr lang="en-US"/>
              <a:t>expensive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of two paths.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Ensure that optimal path to any repeated state is always first followed. </a:t>
            </a:r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 requirement on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h(n)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consistency (monotonicity)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DEF50B-6280-47FA-B3E8-4CD5CD1D5D8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3174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5A899-60E9-40FC-9E79-964A81722768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Consistency 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600" smtClean="0"/>
              <a:t>A heuristic is consistent if</a:t>
            </a:r>
          </a:p>
          <a:p>
            <a:pPr eaLnBrk="1" hangingPunct="1"/>
            <a:endParaRPr lang="en-US" altLang="en-US" sz="2600" smtClean="0"/>
          </a:p>
          <a:p>
            <a:pPr eaLnBrk="1" hangingPunct="1"/>
            <a:r>
              <a:rPr lang="en-US" altLang="en-US" sz="2600" smtClean="0"/>
              <a:t>If h is consistent, we have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600" smtClean="0"/>
          </a:p>
          <a:p>
            <a:pPr eaLnBrk="1" hangingPunct="1"/>
            <a:endParaRPr lang="en-US" altLang="en-US" sz="2600" smtClean="0"/>
          </a:p>
          <a:p>
            <a:pPr eaLnBrk="1" hangingPunct="1"/>
            <a:endParaRPr lang="en-US" altLang="en-US" sz="2600" smtClean="0"/>
          </a:p>
          <a:p>
            <a:pPr eaLnBrk="1" hangingPunct="1"/>
            <a:endParaRPr lang="en-US" altLang="en-US" sz="26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 smtClean="0"/>
              <a:t>i.e. f(n) is nondecreasing along any path.</a:t>
            </a:r>
          </a:p>
        </p:txBody>
      </p:sp>
      <p:graphicFrame>
        <p:nvGraphicFramePr>
          <p:cNvPr id="31751" name="Object 4"/>
          <p:cNvGraphicFramePr>
            <a:graphicFrameLocks noChangeAspect="1"/>
          </p:cNvGraphicFramePr>
          <p:nvPr/>
        </p:nvGraphicFramePr>
        <p:xfrm>
          <a:off x="2362200" y="2514600"/>
          <a:ext cx="36576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3" imgW="1460500" imgH="165100" progId="Equation.3">
                  <p:embed/>
                </p:oleObj>
              </mc:Choice>
              <mc:Fallback>
                <p:oleObj name="Equation" r:id="rId3" imgW="1460500" imgH="165100" progId="Equation.3">
                  <p:embed/>
                  <p:pic>
                    <p:nvPicPr>
                      <p:cNvPr id="3175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514600"/>
                        <a:ext cx="36576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5"/>
          <p:cNvGraphicFramePr>
            <a:graphicFrameLocks noChangeAspect="1"/>
          </p:cNvGraphicFramePr>
          <p:nvPr/>
        </p:nvGraphicFramePr>
        <p:xfrm>
          <a:off x="2362200" y="3429000"/>
          <a:ext cx="4191000" cy="187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5" imgW="1930400" imgH="863600" progId="Equation.3">
                  <p:embed/>
                </p:oleObj>
              </mc:Choice>
              <mc:Fallback>
                <p:oleObj name="Equation" r:id="rId5" imgW="1930400" imgH="863600" progId="Equation.3">
                  <p:embed/>
                  <p:pic>
                    <p:nvPicPr>
                      <p:cNvPr id="3175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429000"/>
                        <a:ext cx="4191000" cy="187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53" name="Picture 7" descr="consistency.jpg                                                00105F05IRIDIA                         BC96F375: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143000"/>
            <a:ext cx="2295525" cy="329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3205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0E3134-4573-4A69-B624-52AFE73DC243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32772" name="Date Placeholder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ED6714-D56F-4CD9-A6BA-AF66642F829E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Optimality of A*(more usefull)</a:t>
            </a:r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A* expands nodes in order of increasing </a:t>
            </a:r>
            <a:r>
              <a:rPr lang="en-US" altLang="en-US" sz="2200" i="1" smtClean="0"/>
              <a:t>f</a:t>
            </a:r>
            <a:r>
              <a:rPr lang="en-US" altLang="en-US" sz="2200" smtClean="0"/>
              <a:t> value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Contours can be drawn in state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smtClean="0"/>
              <a:t>Uniform-cost search adds circles.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smtClean="0"/>
              <a:t>F-contours are gradually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smtClean="0"/>
              <a:t>Added: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smtClean="0"/>
              <a:t>1) nodes with </a:t>
            </a:r>
            <a:r>
              <a:rPr lang="en-US" altLang="en-US" sz="1600" i="1" smtClean="0"/>
              <a:t>f(n)&lt;C*</a:t>
            </a:r>
            <a:endParaRPr lang="en-US" altLang="en-US" sz="1600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smtClean="0"/>
              <a:t>2) Some nodes on the goal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smtClean="0"/>
              <a:t>Contour (</a:t>
            </a:r>
            <a:r>
              <a:rPr lang="en-US" altLang="en-US" sz="1600" i="1" smtClean="0"/>
              <a:t>f(n)=C*</a:t>
            </a:r>
            <a:r>
              <a:rPr lang="en-US" altLang="en-US" sz="1600" smtClean="0"/>
              <a:t>).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600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smtClean="0"/>
              <a:t>Contour I has all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smtClean="0"/>
              <a:t>Nodes with </a:t>
            </a:r>
            <a:r>
              <a:rPr lang="en-US" altLang="en-US" sz="1600" i="1" smtClean="0"/>
              <a:t>f=f</a:t>
            </a:r>
            <a:r>
              <a:rPr lang="en-US" altLang="en-US" sz="1600" i="1" baseline="-25000" smtClean="0"/>
              <a:t>i</a:t>
            </a:r>
            <a:r>
              <a:rPr lang="en-US" altLang="en-US" sz="1600" smtClean="0"/>
              <a:t>, where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i="1" smtClean="0"/>
              <a:t>f</a:t>
            </a:r>
            <a:r>
              <a:rPr lang="en-US" altLang="en-US" sz="1600" i="1" baseline="-25000" smtClean="0"/>
              <a:t>i</a:t>
            </a:r>
            <a:r>
              <a:rPr lang="en-US" altLang="en-US" sz="1600" i="1" smtClean="0"/>
              <a:t> &lt; f</a:t>
            </a:r>
            <a:r>
              <a:rPr lang="en-US" altLang="en-US" sz="1600" i="1" baseline="-25000" smtClean="0"/>
              <a:t>i</a:t>
            </a:r>
            <a:r>
              <a:rPr lang="en-US" altLang="en-US" sz="1600" i="1" smtClean="0"/>
              <a:t>+1</a:t>
            </a:r>
            <a:r>
              <a:rPr lang="en-US" altLang="en-US" sz="1600" smtClean="0"/>
              <a:t>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600" smtClean="0"/>
          </a:p>
        </p:txBody>
      </p:sp>
      <p:pic>
        <p:nvPicPr>
          <p:cNvPr id="32775" name="Picture 5" descr="&#10;f-circles.jpg                                                  00105F05IRIDIA                         BC96F375: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5013" y="3352800"/>
            <a:ext cx="4598987" cy="2909888"/>
          </a:xfrm>
        </p:spPr>
      </p:pic>
    </p:spTree>
    <p:extLst>
      <p:ext uri="{BB962C8B-B14F-4D97-AF65-F5344CB8AC3E}">
        <p14:creationId xmlns:p14="http://schemas.microsoft.com/office/powerpoint/2010/main" val="2056893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hape 44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448" name="Shape 448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29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9" name="Shape 449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450" name="Shape 450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A* search, evaluation</a:t>
            </a:r>
          </a:p>
        </p:txBody>
      </p:sp>
      <p:sp>
        <p:nvSpPr>
          <p:cNvPr id="451" name="Shape 451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Completeness: YES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Since bands of increasing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are added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Unless there are infinitly many nodes with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f&lt;f(G)</a:t>
            </a: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45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457" name="Shape 457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30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8" name="Shape 458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459" name="Shape 459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A* search, evaluation</a:t>
            </a:r>
          </a:p>
        </p:txBody>
      </p:sp>
      <p:sp>
        <p:nvSpPr>
          <p:cNvPr id="460" name="Shape 460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Completeness: YES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complexity: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Number of nodes expanded is still exponential in the length of the solution.</a:t>
            </a: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31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7" name="Shape 467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468" name="Shape 468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A* search, evaluation</a:t>
            </a:r>
          </a:p>
        </p:txBody>
      </p:sp>
      <p:sp>
        <p:nvSpPr>
          <p:cNvPr id="469" name="Shape 469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Completeness: YES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complexity: (exponential with path length)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complexity: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It keeps all generated nodes in memory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Hence space is the major problem not time</a:t>
            </a: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hape 47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475" name="Shape 475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32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76" name="Shape 476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477" name="Shape 477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A* search, evaluation</a:t>
            </a:r>
          </a:p>
        </p:txBody>
      </p:sp>
      <p:sp>
        <p:nvSpPr>
          <p:cNvPr id="478" name="Shape 478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Completeness: YES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complexity: (exponential with path length)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complexity:(all nodes are stored)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Optimality: YES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9999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Cannot expand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</a:t>
            </a:r>
            <a:r>
              <a:rPr lang="en-US" sz="1800" b="0" i="1" u="none" strike="noStrike" cap="none" baseline="-25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i+1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until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</a:t>
            </a:r>
            <a:r>
              <a:rPr lang="en-US" sz="1800" b="0" i="1" u="none" strike="noStrike" cap="none" baseline="-25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is finished.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9999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A* expands all nodes with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f(n)&lt; C*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9999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A* expands some nodes with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f(n)=C*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9999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A* expands no nodes with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f(n)&gt;C*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</a:t>
            </a:r>
            <a:r>
              <a:rPr lang="en-US" sz="2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optimally efficient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(not including ties)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48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484" name="Shape 484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33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5" name="Shape 485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A* search</a:t>
            </a:r>
          </a:p>
        </p:txBody>
      </p:sp>
      <p:sp>
        <p:nvSpPr>
          <p:cNvPr id="487" name="Shape 487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Ingredients :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OpenList 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frontier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)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ClosedList (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examined nodes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)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ParentMap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CurrentNode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fScore Map 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collection of all f(n))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gScore Map 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distances from start to nodes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3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49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493" name="Shape 493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34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94" name="Shape 494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495" name="Shape 495"/>
          <p:cNvSpPr txBox="1"/>
          <p:nvPr/>
        </p:nvSpPr>
        <p:spPr>
          <a:xfrm>
            <a:off x="107950" y="476250"/>
            <a:ext cx="9936161" cy="640238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/>
              <a:t>Add starting node to OpenList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OpenList NOT empty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CurrentNode := lowest scoring node in OpenList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"/>
              <a:buNone/>
            </a:pPr>
            <a:endParaRPr sz="18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If current = goal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Return build_path(parentMap,currentNode)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Times"/>
              <a:buNone/>
            </a:pP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/>
            </a:r>
            <a:b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</a:t>
            </a: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OpenList.Remove (Current Node)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ClosedSet.Add(Current Node)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For each neighbour of Current Node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If ClosedList contains neighbour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Continue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Times"/>
              <a:buNone/>
            </a:pP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/>
            </a:r>
            <a:b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</a:t>
            </a: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Neighbour_score := ScoreMap[CurrentNode] + distance(CurrentNode, neighbour)</a:t>
            </a: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OpenList NOT contains neighbour</a:t>
            </a: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Openlist.Add(</a:t>
            </a:r>
            <a:r>
              <a:rPr lang="en-US" sz="1800"/>
              <a:t>neighbour</a:t>
            </a: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Times"/>
              <a:buNone/>
            </a:pP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/>
            </a:r>
            <a:b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</a:t>
            </a: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ParentMap[neighbour] := current Node</a:t>
            </a: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gScoreMap[neighbour] := Neighbour_score</a:t>
            </a: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fScoreMap[neighbour] := gScoreMap[neighbour] + heuristic_dist(neighbour,goal)</a:t>
            </a: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/>
            </a:r>
            <a:b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 failure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Times"/>
              <a:buNone/>
            </a:pPr>
            <a:r>
              <a:rPr lang="en-US" sz="16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/>
            </a:r>
            <a:br>
              <a:rPr lang="en-US" sz="16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 lang="en-US" sz="16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586C82-877B-4033-9328-D079C9B1554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47108" name="Date Placeholder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D957CE-7BEF-462A-806F-DE2D108525CC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Heuristic functions</a:t>
            </a:r>
          </a:p>
        </p:txBody>
      </p:sp>
      <p:sp>
        <p:nvSpPr>
          <p:cNvPr id="47110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00" smtClean="0"/>
              <a:t>E.g for the 8-puzzle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smtClean="0"/>
              <a:t>Avg. solution cost is about 22 steps (branching factor +/- 3)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smtClean="0"/>
              <a:t>Exhaustive search to depth 22: 3.1 x 10</a:t>
            </a:r>
            <a:r>
              <a:rPr lang="en-US" altLang="en-US" sz="1800" baseline="30000" smtClean="0"/>
              <a:t>10</a:t>
            </a:r>
            <a:r>
              <a:rPr lang="en-US" altLang="en-US" sz="1800" smtClean="0"/>
              <a:t> states.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smtClean="0"/>
              <a:t>A good heuristic function can reduce the search process.</a:t>
            </a:r>
          </a:p>
        </p:txBody>
      </p:sp>
      <p:pic>
        <p:nvPicPr>
          <p:cNvPr id="47111" name="Picture 5" descr="8puzzle.jpg                                                    00105F05IRIDIA                         BC96F375: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33675" y="1981200"/>
            <a:ext cx="3676650" cy="1866900"/>
          </a:xfrm>
        </p:spPr>
      </p:pic>
    </p:spTree>
    <p:extLst>
      <p:ext uri="{BB962C8B-B14F-4D97-AF65-F5344CB8AC3E}">
        <p14:creationId xmlns:p14="http://schemas.microsoft.com/office/powerpoint/2010/main" val="30840307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044BA7-E9A7-4320-A7A6-96C32526EC0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48132" name="Date Placeholder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51B925-1F69-460E-9F72-88127A437E0D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Heuristic functions</a:t>
            </a: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E.g for the 8-puzzle knows two commonly used heuristics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i="1" smtClean="0"/>
              <a:t>h</a:t>
            </a:r>
            <a:r>
              <a:rPr lang="en-US" altLang="en-US" sz="2200" i="1" baseline="-25000" smtClean="0"/>
              <a:t>1</a:t>
            </a:r>
            <a:r>
              <a:rPr lang="en-US" altLang="en-US" sz="2200" smtClean="0"/>
              <a:t> = the number of misplaced tiles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smtClean="0"/>
              <a:t>h</a:t>
            </a:r>
            <a:r>
              <a:rPr lang="en-US" altLang="en-US" sz="1600" baseline="-25000" smtClean="0"/>
              <a:t>1</a:t>
            </a:r>
            <a:r>
              <a:rPr lang="en-US" altLang="en-US" sz="1600" smtClean="0"/>
              <a:t>(s)=8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i="1" smtClean="0"/>
              <a:t>h</a:t>
            </a:r>
            <a:r>
              <a:rPr lang="en-US" altLang="en-US" sz="2200" i="1" baseline="-25000" smtClean="0"/>
              <a:t>2</a:t>
            </a:r>
            <a:r>
              <a:rPr lang="en-US" altLang="en-US" sz="2200" smtClean="0"/>
              <a:t> = the sum of the distances of the tiles from their goal positions (manhattan distance).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smtClean="0"/>
              <a:t>h</a:t>
            </a:r>
            <a:r>
              <a:rPr lang="en-US" altLang="en-US" sz="1600" baseline="-25000" smtClean="0"/>
              <a:t>2</a:t>
            </a:r>
            <a:r>
              <a:rPr lang="en-US" altLang="en-US" sz="1600" smtClean="0"/>
              <a:t>(s)=3+1+2+2+2+3+3+2=18</a:t>
            </a:r>
          </a:p>
        </p:txBody>
      </p:sp>
      <p:pic>
        <p:nvPicPr>
          <p:cNvPr id="48135" name="Picture 4" descr="8puzzle.jpg                                                    00105F05IRIDIA                         BC96F375: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33675" y="1981200"/>
            <a:ext cx="3676650" cy="1866900"/>
          </a:xfrm>
        </p:spPr>
      </p:pic>
    </p:spTree>
    <p:extLst>
      <p:ext uri="{BB962C8B-B14F-4D97-AF65-F5344CB8AC3E}">
        <p14:creationId xmlns:p14="http://schemas.microsoft.com/office/powerpoint/2010/main" val="2729156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Shape 52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521" name="Shape 521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37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2" name="Shape 522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523" name="Shape 523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Heuristic quality</a:t>
            </a:r>
          </a:p>
        </p:txBody>
      </p:sp>
      <p:sp>
        <p:nvSpPr>
          <p:cNvPr id="524" name="Shape 524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 branching factor b*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Is the branching factor that a uniform tree of depth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would have in order to contain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N+1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nodes.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Measure is fairly constant for sufficiently hard problems.</a:t>
            </a:r>
          </a:p>
          <a:p>
            <a:pPr marL="1143000" marR="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thus provide a good guide to the heuristic’s overall usefulness.</a:t>
            </a:r>
          </a:p>
          <a:p>
            <a:pPr marL="1143000" marR="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good value of b* is 1.</a:t>
            </a:r>
          </a:p>
        </p:txBody>
      </p:sp>
      <p:pic>
        <p:nvPicPr>
          <p:cNvPr id="525" name="Shape 5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00" y="3276600"/>
            <a:ext cx="440690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25EFA37-9DB0-41C3-8309-7ECF8A93436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5018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2B63813-9D75-469B-916D-6444CCFFAB3D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Heuristic quality and dominance</a:t>
            </a:r>
          </a:p>
        </p:txBody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600" smtClean="0"/>
              <a:t>1200 random problems with solution lengths from 2 to 24.</a:t>
            </a:r>
          </a:p>
          <a:p>
            <a:pPr eaLnBrk="1" hangingPunct="1"/>
            <a:endParaRPr lang="en-US" altLang="en-US" sz="2600" smtClean="0"/>
          </a:p>
          <a:p>
            <a:pPr eaLnBrk="1" hangingPunct="1"/>
            <a:endParaRPr lang="en-US" altLang="en-US" sz="2600" smtClean="0"/>
          </a:p>
          <a:p>
            <a:pPr eaLnBrk="1" hangingPunct="1"/>
            <a:endParaRPr lang="en-US" altLang="en-US" sz="2600" smtClean="0"/>
          </a:p>
          <a:p>
            <a:pPr eaLnBrk="1" hangingPunct="1"/>
            <a:endParaRPr lang="en-US" altLang="en-US" sz="2600" smtClean="0"/>
          </a:p>
          <a:p>
            <a:pPr eaLnBrk="1" hangingPunct="1"/>
            <a:r>
              <a:rPr lang="en-US" altLang="en-US" sz="2600" smtClean="0"/>
              <a:t>If </a:t>
            </a:r>
            <a:r>
              <a:rPr lang="en-US" altLang="en-US" sz="2600" i="1" smtClean="0"/>
              <a:t>h</a:t>
            </a:r>
            <a:r>
              <a:rPr lang="en-US" altLang="en-US" sz="2600" i="1" baseline="-25000" smtClean="0"/>
              <a:t>2</a:t>
            </a:r>
            <a:r>
              <a:rPr lang="en-US" altLang="en-US" sz="2600" i="1" smtClean="0"/>
              <a:t>(n) &gt;= h</a:t>
            </a:r>
            <a:r>
              <a:rPr lang="en-US" altLang="en-US" sz="2600" i="1" baseline="-25000" smtClean="0"/>
              <a:t>1</a:t>
            </a:r>
            <a:r>
              <a:rPr lang="en-US" altLang="en-US" sz="2600" i="1" smtClean="0"/>
              <a:t>(n)</a:t>
            </a:r>
            <a:r>
              <a:rPr lang="en-US" altLang="en-US" sz="2600" smtClean="0"/>
              <a:t> for all </a:t>
            </a:r>
            <a:r>
              <a:rPr lang="en-US" altLang="en-US" sz="2600" i="1" smtClean="0"/>
              <a:t>n</a:t>
            </a:r>
            <a:r>
              <a:rPr lang="en-US" altLang="en-US" sz="2600" smtClean="0"/>
              <a:t> (both admissible)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 smtClean="0"/>
              <a:t>	then </a:t>
            </a:r>
            <a:r>
              <a:rPr lang="en-US" altLang="en-US" sz="2600" i="1" smtClean="0"/>
              <a:t>h</a:t>
            </a:r>
            <a:r>
              <a:rPr lang="en-US" altLang="en-US" sz="2600" i="1" baseline="-25000" smtClean="0"/>
              <a:t>2</a:t>
            </a:r>
            <a:r>
              <a:rPr lang="en-US" altLang="en-US" sz="2600" i="1" smtClean="0"/>
              <a:t> dominates h</a:t>
            </a:r>
            <a:r>
              <a:rPr lang="en-US" altLang="en-US" sz="2600" i="1" baseline="-25000" smtClean="0"/>
              <a:t>1</a:t>
            </a:r>
            <a:r>
              <a:rPr lang="en-US" altLang="en-US" sz="2600" smtClean="0"/>
              <a:t> and is better for search</a:t>
            </a:r>
          </a:p>
        </p:txBody>
      </p:sp>
      <p:pic>
        <p:nvPicPr>
          <p:cNvPr id="50183" name="Picture 4" descr="&#10;testtabel.jpg                                                  00105F05IRIDIA                         BC96F375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438400"/>
            <a:ext cx="5715000" cy="234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95596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Shape 54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541" name="Shape 541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39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42" name="Shape 542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543" name="Shape 543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Inventing admissible heuristics</a:t>
            </a:r>
          </a:p>
        </p:txBody>
      </p:sp>
      <p:sp>
        <p:nvSpPr>
          <p:cNvPr id="544" name="Shape 544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Admissible heuristics can be derived from the exact solution cost of a relaxed version of the problem: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9999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Relaxed 8-puzzle for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</a:t>
            </a:r>
            <a:r>
              <a:rPr lang="en-US" sz="1800" b="0" i="1" u="none" strike="noStrike" cap="none" baseline="-25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: a tile can move anywhere</a:t>
            </a:r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result,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(n)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gives the shortest solution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9999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Relaxed 8-puzzle for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</a:t>
            </a:r>
            <a:r>
              <a:rPr lang="en-US" sz="1800" b="0" i="1" u="none" strike="noStrike" cap="none" baseline="-25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: a tile can move to any adjacent square.</a:t>
            </a:r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result,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(n)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gives the shortest solution.</a:t>
            </a:r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optimal solution cost of a relaxed problem is no greater than the optimal solution cost of the real problem.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ABSolver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found a usefull heuristic for the rubic cube.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2DE173-1AAA-4EC2-9A50-EF311C33223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52228" name="Date Placeholder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DB6FE72-C65C-4B21-8AAF-ADE6A76FDBDB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Inventing admissible heuristics</a:t>
            </a:r>
          </a:p>
        </p:txBody>
      </p:sp>
      <p:sp>
        <p:nvSpPr>
          <p:cNvPr id="52230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Admissible heuristics can also be derived from the solution cost of a subproblem of a given problem.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This cost is a lower bound on the cost of the real problem.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Pattern databases store the exact solution to for every possible subproblem instance.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smtClean="0"/>
              <a:t>The complete heuristic is constructed using the patterns in the DB</a:t>
            </a:r>
          </a:p>
        </p:txBody>
      </p:sp>
      <p:pic>
        <p:nvPicPr>
          <p:cNvPr id="52231" name="Picture 5" descr="8puzzle-pattern.jpg                                            00105F05IRIDIA                         BC96F375: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3200" y="4191000"/>
            <a:ext cx="3676650" cy="1866900"/>
          </a:xfrm>
        </p:spPr>
      </p:pic>
    </p:spTree>
    <p:extLst>
      <p:ext uri="{BB962C8B-B14F-4D97-AF65-F5344CB8AC3E}">
        <p14:creationId xmlns:p14="http://schemas.microsoft.com/office/powerpoint/2010/main" val="7757572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Shape 55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560" name="Shape 560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41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61" name="Shape 561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562" name="Shape 562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Inventing admissible heuristics</a:t>
            </a:r>
          </a:p>
        </p:txBody>
      </p:sp>
      <p:sp>
        <p:nvSpPr>
          <p:cNvPr id="563" name="Shape 563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way to find an admissible heuristic is through learning from experience: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Experience = solving lots of 8-puzzles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An inductive learning algorithm can be used to predict costs for other states that arise during search.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417D1E-2D77-4748-A806-14B85F545DB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5530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C90D9C-653F-47B3-A7AE-6E98C03EC7CA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Local search and optimization</a:t>
            </a:r>
          </a:p>
        </p:txBody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600" smtClean="0"/>
              <a:t>Local search= use single current state and move to neighboring states.</a:t>
            </a:r>
          </a:p>
          <a:p>
            <a:pPr eaLnBrk="1" hangingPunct="1"/>
            <a:r>
              <a:rPr lang="en-US" altLang="en-US" sz="2600" smtClean="0"/>
              <a:t>Advantages:</a:t>
            </a:r>
          </a:p>
          <a:p>
            <a:pPr lvl="1" eaLnBrk="1" hangingPunct="1"/>
            <a:r>
              <a:rPr lang="en-US" altLang="en-US" sz="1800" smtClean="0"/>
              <a:t>Use very little memory</a:t>
            </a:r>
          </a:p>
          <a:p>
            <a:pPr lvl="1" eaLnBrk="1" hangingPunct="1"/>
            <a:r>
              <a:rPr lang="en-US" altLang="en-US" sz="1800" smtClean="0"/>
              <a:t>Find often reasonable solutions in large or infinite state spaces.</a:t>
            </a:r>
          </a:p>
          <a:p>
            <a:pPr eaLnBrk="1" hangingPunct="1"/>
            <a:r>
              <a:rPr lang="en-US" altLang="en-US" sz="2600" smtClean="0"/>
              <a:t>Are also useful for pure optimization problems.</a:t>
            </a:r>
          </a:p>
          <a:p>
            <a:pPr lvl="1" eaLnBrk="1" hangingPunct="1"/>
            <a:r>
              <a:rPr lang="en-US" altLang="en-US" sz="1800" smtClean="0"/>
              <a:t>Find best state according to some </a:t>
            </a:r>
            <a:r>
              <a:rPr lang="en-US" altLang="en-US" sz="1800" i="1" smtClean="0"/>
              <a:t>objective function</a:t>
            </a:r>
            <a:r>
              <a:rPr lang="en-US" altLang="en-US" sz="1800" smtClean="0"/>
              <a:t>.</a:t>
            </a:r>
          </a:p>
          <a:p>
            <a:pPr lvl="1" eaLnBrk="1" hangingPunct="1"/>
            <a:r>
              <a:rPr lang="en-US" altLang="en-US" sz="1800" smtClean="0"/>
              <a:t>e.g. survival of the fittest as a metaphor for optimization.</a:t>
            </a:r>
          </a:p>
        </p:txBody>
      </p:sp>
    </p:spTree>
    <p:extLst>
      <p:ext uri="{BB962C8B-B14F-4D97-AF65-F5344CB8AC3E}">
        <p14:creationId xmlns:p14="http://schemas.microsoft.com/office/powerpoint/2010/main" val="38045342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D02BD2-1D68-49BB-BB5F-A7671601FE53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5632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D100DC-C5C8-46CF-AC4A-6FF88744CDCB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Local search and optimization</a:t>
            </a:r>
          </a:p>
        </p:txBody>
      </p:sp>
      <p:pic>
        <p:nvPicPr>
          <p:cNvPr id="56326" name="Picture 5" descr="hill-climbing.jpg                                              00105F05IRIDIA                         BC96F375: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8075" y="1981200"/>
            <a:ext cx="6927850" cy="3886200"/>
          </a:xfrm>
        </p:spPr>
      </p:pic>
    </p:spTree>
    <p:extLst>
      <p:ext uri="{BB962C8B-B14F-4D97-AF65-F5344CB8AC3E}">
        <p14:creationId xmlns:p14="http://schemas.microsoft.com/office/powerpoint/2010/main" val="8691984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587" name="Shape 587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44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8" name="Shape 588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589" name="Shape 589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Hill-climbing search</a:t>
            </a:r>
          </a:p>
        </p:txBody>
      </p:sp>
      <p:sp>
        <p:nvSpPr>
          <p:cNvPr id="590" name="Shape 590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“is a loop that continuously moves in the direction of increasing value”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It terminates when a peak is reached.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Hill climbing does not look ahead of the immediate neighbors of the current state.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Hill-climbing chooses randomly among the set of best successors, if there is more than one.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Hill-climbing a.k.a. </a:t>
            </a:r>
            <a:r>
              <a:rPr lang="en-US" sz="3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local search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hape 59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596" name="Shape 596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45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97" name="Shape 597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598" name="Shape 598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Hill-climbing search</a:t>
            </a:r>
          </a:p>
        </p:txBody>
      </p:sp>
      <p:sp>
        <p:nvSpPr>
          <p:cNvPr id="599" name="Shape 599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HILL-CLIMBING(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state that is a local maximum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 problem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variables: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 node.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neighbor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 node.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current ←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MAKE-NODE(INITIAL-STATE[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])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 do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neighbor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a highest valued successor of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VALUE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neighbor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VALUE[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return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STATE[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neighbor</a:t>
            </a: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60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605" name="Shape 605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46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06" name="Shape 606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607" name="Shape 607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Hill-climbing example</a:t>
            </a:r>
          </a:p>
        </p:txBody>
      </p:sp>
      <p:sp>
        <p:nvSpPr>
          <p:cNvPr id="608" name="Shape 608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8-queens problem (complete-state formulation).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 function: move a single queen to another square in the same column.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Heuristic function </a:t>
            </a:r>
            <a:r>
              <a:rPr lang="en-US" sz="3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h(n)</a:t>
            </a: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number of pairs of queens that are attacking each other (directly or indirectly).</a:t>
            </a: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None/>
            </a:pPr>
            <a:endParaRPr sz="3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5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A26CB4-CC53-4B56-93AA-14C2D00F59F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60420" name="Date Placeholder 7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5EA989-E55F-4755-9F89-58996520FA99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Hill-climbing example </a:t>
            </a:r>
          </a:p>
        </p:txBody>
      </p:sp>
      <p:sp>
        <p:nvSpPr>
          <p:cNvPr id="60422" name="Rectangle 5"/>
          <p:cNvSpPr>
            <a:spLocks noGrp="1" noChangeArrowheads="1"/>
          </p:cNvSpPr>
          <p:nvPr>
            <p:ph type="body" sz="half" idx="3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 smtClean="0"/>
              <a:t>a) shows a state of h=17 and the h-value for each possible successor.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 smtClean="0"/>
              <a:t>b) A local minimum in the 8-queens state space (h=1).</a:t>
            </a:r>
          </a:p>
        </p:txBody>
      </p:sp>
      <p:pic>
        <p:nvPicPr>
          <p:cNvPr id="60423" name="Picture 6" descr="8queens-successors.jpg                                         00105F05IRIDIA                         BC96F375: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3050" y="1981200"/>
            <a:ext cx="1866900" cy="1866900"/>
          </a:xfrm>
        </p:spPr>
      </p:pic>
      <p:pic>
        <p:nvPicPr>
          <p:cNvPr id="60424" name="Picture 7" descr="8queens-local-minimum.jpg                                      00105F05IRIDIA                         BC96F375: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34050" y="1981200"/>
            <a:ext cx="1866900" cy="1866900"/>
          </a:xfrm>
        </p:spPr>
      </p:pic>
      <p:sp>
        <p:nvSpPr>
          <p:cNvPr id="60425" name="Text Box 8"/>
          <p:cNvSpPr txBox="1">
            <a:spLocks noChangeArrowheads="1"/>
          </p:cNvSpPr>
          <p:nvPr/>
        </p:nvSpPr>
        <p:spPr bwMode="auto">
          <a:xfrm>
            <a:off x="669925" y="1736725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a)</a:t>
            </a:r>
          </a:p>
        </p:txBody>
      </p:sp>
      <p:sp>
        <p:nvSpPr>
          <p:cNvPr id="60426" name="Text Box 9"/>
          <p:cNvSpPr txBox="1">
            <a:spLocks noChangeArrowheads="1"/>
          </p:cNvSpPr>
          <p:nvPr/>
        </p:nvSpPr>
        <p:spPr bwMode="auto">
          <a:xfrm>
            <a:off x="5165725" y="1736725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1272469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5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TLo (IRIDIA)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2DB21A-3B82-409D-A592-67518503251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61444" name="Date Placeholder 7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90B2CC-6B37-4B4D-BCA6-B45994D41672}" type="datetime4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January 30, 2017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Drawbacks</a:t>
            </a:r>
          </a:p>
        </p:txBody>
      </p:sp>
      <p:sp>
        <p:nvSpPr>
          <p:cNvPr id="61446" name="Rectangle 5"/>
          <p:cNvSpPr>
            <a:spLocks noGrp="1" noChangeArrowheads="1"/>
          </p:cNvSpPr>
          <p:nvPr>
            <p:ph type="body" sz="half" idx="3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Ridge = sequence of local maxima difficult for greedy algorithms to navigate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Plateaux = an area of the state space where the evaluation function is flat.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Gets stuck 86% of the time.</a:t>
            </a:r>
          </a:p>
        </p:txBody>
      </p:sp>
      <p:pic>
        <p:nvPicPr>
          <p:cNvPr id="61447" name="Picture 6" descr="hill-climbing.jpg                                              00105F05IRIDIA                         BC96F375: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1213" y="1981200"/>
            <a:ext cx="3328987" cy="1866900"/>
          </a:xfrm>
        </p:spPr>
      </p:pic>
      <p:pic>
        <p:nvPicPr>
          <p:cNvPr id="61448" name="Picture 7" descr=" ridge.jpg                                                      00105F05IRIDIA                         BC96F375: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57800" y="1981200"/>
            <a:ext cx="2363788" cy="1866900"/>
          </a:xfrm>
        </p:spPr>
      </p:pic>
    </p:spTree>
    <p:extLst>
      <p:ext uri="{BB962C8B-B14F-4D97-AF65-F5344CB8AC3E}">
        <p14:creationId xmlns:p14="http://schemas.microsoft.com/office/powerpoint/2010/main" val="21131180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63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638" name="Shape 638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49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39" name="Shape 639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sp>
        <p:nvSpPr>
          <p:cNvPr id="640" name="Shape 640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Hill-climbing variations</a:t>
            </a:r>
          </a:p>
        </p:txBody>
      </p:sp>
      <p:sp>
        <p:nvSpPr>
          <p:cNvPr id="641" name="Shape 641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Stochastic hill-climbing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Random selection among the uphill moves.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The selection probability can vary with the steepness of the uphill move.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First-choice hill-climbing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cfr. stochastic hill climbing by generating successors randomly until a better one is found.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Random-restart hill-climbing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Tries to avoid getting stuck in local maxima.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646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Pathfinding Applications</a:t>
            </a:r>
          </a:p>
        </p:txBody>
      </p:sp>
      <p:sp>
        <p:nvSpPr>
          <p:cNvPr id="647" name="Shape 647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Place to Place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endParaRPr sz="3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None/>
            </a:pPr>
            <a:endParaRPr sz="3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8" name="Shape 64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649" name="Shape 649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50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50" name="Shape 650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pic>
        <p:nvPicPr>
          <p:cNvPr id="651" name="Shape 6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0925" y="2925761"/>
            <a:ext cx="2424112" cy="2662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Shape 652" descr="Image result for videogame tile pathfindi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7175" y="3213100"/>
            <a:ext cx="4176711" cy="2087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Shape 657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Pathfinding Applications</a:t>
            </a:r>
          </a:p>
        </p:txBody>
      </p:sp>
      <p:sp>
        <p:nvSpPr>
          <p:cNvPr id="658" name="Shape 658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/>
              <a:t>TSP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endParaRPr sz="3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None/>
            </a:pPr>
            <a:endParaRPr sz="3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9" name="Shape 65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660" name="Shape 660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51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61" name="Shape 661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pic>
        <p:nvPicPr>
          <p:cNvPr id="662" name="Shape 6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3950" y="2475124"/>
            <a:ext cx="3321249" cy="320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667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Pathfinding Applications</a:t>
            </a:r>
          </a:p>
        </p:txBody>
      </p:sp>
      <p:sp>
        <p:nvSpPr>
          <p:cNvPr id="668" name="Shape 668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 to person (social network)</a:t>
            </a: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None/>
            </a:pPr>
            <a:endParaRPr sz="3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9" name="Shape 66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670" name="Shape 670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52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71" name="Shape 671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pic>
        <p:nvPicPr>
          <p:cNvPr id="672" name="Shape 6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9975" y="2633661"/>
            <a:ext cx="4006850" cy="3233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Shape 677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Pathfinding Applications</a:t>
            </a:r>
          </a:p>
        </p:txBody>
      </p:sp>
      <p:sp>
        <p:nvSpPr>
          <p:cNvPr id="678" name="Shape 678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Currency to Currency. Arbitrage (finance)</a:t>
            </a:r>
          </a:p>
        </p:txBody>
      </p:sp>
      <p:sp>
        <p:nvSpPr>
          <p:cNvPr id="679" name="Shape 67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680" name="Shape 680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53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81" name="Shape 681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pic>
        <p:nvPicPr>
          <p:cNvPr id="682" name="Shape 682" descr="https://lh3.googleusercontent.com/XBLMvOjBjIP796rB5yfPrBijXmSLZ6FFIeR5TstjKT_5ilhqQyLlGKq9e0RwAlaa7k_eme2oytOv6lwB9P3wSNM220S3jufUByLclGPaOa3hmkKHr2z65RawAJiXt9rV-NYE5lGW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3711" y="2708275"/>
            <a:ext cx="5943599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Shape 687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Pathfinding Applications</a:t>
            </a:r>
          </a:p>
        </p:txBody>
      </p:sp>
      <p:sp>
        <p:nvSpPr>
          <p:cNvPr id="688" name="Shape 688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7643812" cy="404018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Char char="■"/>
            </a:pPr>
            <a:r>
              <a:rPr lang="en-US" sz="3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to Machine (data network)</a:t>
            </a: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None/>
            </a:pPr>
            <a:endParaRPr sz="3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9" name="Shape 68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Slides by Tom Lenaerts – IRIDIA ULB Adapted for Edinburgh Napier by C. Stone</a:t>
            </a:r>
          </a:p>
        </p:txBody>
      </p:sp>
      <p:sp>
        <p:nvSpPr>
          <p:cNvPr id="690" name="Shape 690"/>
          <p:cNvSpPr txBox="1"/>
          <p:nvPr/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Black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54</a:t>
            </a:fld>
            <a:endParaRPr lang="en-US" sz="1200" b="0" i="0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91" name="Shape 691"/>
          <p:cNvSpPr txBox="1"/>
          <p:nvPr/>
        </p:nvSpPr>
        <p:spPr>
          <a:xfrm>
            <a:off x="457200" y="6245225"/>
            <a:ext cx="2133599" cy="476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January 30, 2017</a:t>
            </a:r>
          </a:p>
        </p:txBody>
      </p:sp>
      <p:pic>
        <p:nvPicPr>
          <p:cNvPr id="692" name="Shape 692" descr="Image result for computer complex networ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1050" y="2636836"/>
            <a:ext cx="4681536" cy="312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000080"/>
      </a:accent1>
      <a:accent2>
        <a:srgbClr val="9999CC"/>
      </a:accent2>
      <a:accent3>
        <a:srgbClr val="FFFFFF"/>
      </a:accent3>
      <a:accent4>
        <a:srgbClr val="000000"/>
      </a:accent4>
      <a:accent5>
        <a:srgbClr val="AAAAC0"/>
      </a:accent5>
      <a:accent6>
        <a:srgbClr val="8A8AB9"/>
      </a:accent6>
      <a:hlink>
        <a:srgbClr val="CCCCE6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000080"/>
      </a:accent1>
      <a:accent2>
        <a:srgbClr val="9999CC"/>
      </a:accent2>
      <a:accent3>
        <a:srgbClr val="FFFFFF"/>
      </a:accent3>
      <a:accent4>
        <a:srgbClr val="000000"/>
      </a:accent4>
      <a:accent5>
        <a:srgbClr val="AAAAC0"/>
      </a:accent5>
      <a:accent6>
        <a:srgbClr val="8A8AB9"/>
      </a:accent6>
      <a:hlink>
        <a:srgbClr val="CCCCE6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000080"/>
      </a:accent1>
      <a:accent2>
        <a:srgbClr val="9999CC"/>
      </a:accent2>
      <a:accent3>
        <a:srgbClr val="FFFFFF"/>
      </a:accent3>
      <a:accent4>
        <a:srgbClr val="000000"/>
      </a:accent4>
      <a:accent5>
        <a:srgbClr val="AAAAC0"/>
      </a:accent5>
      <a:accent6>
        <a:srgbClr val="8A8AB9"/>
      </a:accent6>
      <a:hlink>
        <a:srgbClr val="CCCCE6"/>
      </a:hlink>
      <a:folHlink>
        <a:srgbClr val="B2B2B2"/>
      </a:folHlink>
    </a:clrScheme>
    <a:fontScheme name="Pixel">
      <a:majorFont>
        <a:latin typeface="Arial Black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Pixel 1">
        <a:dk1>
          <a:srgbClr val="666699"/>
        </a:dk1>
        <a:lt1>
          <a:srgbClr val="FFFFFF"/>
        </a:lt1>
        <a:dk2>
          <a:srgbClr val="000066"/>
        </a:dk2>
        <a:lt2>
          <a:srgbClr val="FFFFFF"/>
        </a:lt2>
        <a:accent1>
          <a:srgbClr val="0066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2DE7"/>
        </a:accent6>
        <a:hlink>
          <a:srgbClr val="0000C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0000"/>
        </a:dk1>
        <a:lt1>
          <a:srgbClr val="FFFFFF"/>
        </a:lt1>
        <a:dk2>
          <a:srgbClr val="334B49"/>
        </a:dk2>
        <a:lt2>
          <a:srgbClr val="FFFFFF"/>
        </a:lt2>
        <a:accent1>
          <a:srgbClr val="009999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ACACA"/>
        </a:accent5>
        <a:accent6>
          <a:srgbClr val="007373"/>
        </a:accent6>
        <a:hlink>
          <a:srgbClr val="006666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FF9900"/>
        </a:accent1>
        <a:accent2>
          <a:srgbClr val="FCB138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4A032"/>
        </a:accent6>
        <a:hlink>
          <a:srgbClr val="FCC66E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4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440044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B0AAB0"/>
        </a:accent5>
        <a:accent6>
          <a:srgbClr val="6D0466"/>
        </a:accent6>
        <a:hlink>
          <a:srgbClr val="9F839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5">
        <a:dk1>
          <a:srgbClr val="000000"/>
        </a:dk1>
        <a:lt1>
          <a:srgbClr val="FFFFFF"/>
        </a:lt1>
        <a:dk2>
          <a:srgbClr val="FFFFFF"/>
        </a:dk2>
        <a:lt2>
          <a:srgbClr val="666699"/>
        </a:lt2>
        <a:accent1>
          <a:srgbClr val="779F92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BDCDC7"/>
        </a:accent5>
        <a:accent6>
          <a:srgbClr val="8EB0C3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6">
        <a:dk1>
          <a:srgbClr val="6A0000"/>
        </a:dk1>
        <a:lt1>
          <a:srgbClr val="FFFFFF"/>
        </a:lt1>
        <a:dk2>
          <a:srgbClr val="FFFFFF"/>
        </a:dk2>
        <a:lt2>
          <a:srgbClr val="666699"/>
        </a:lt2>
        <a:accent1>
          <a:srgbClr val="CC3300"/>
        </a:accent1>
        <a:accent2>
          <a:srgbClr val="CC6600"/>
        </a:accent2>
        <a:accent3>
          <a:srgbClr val="FFFFFF"/>
        </a:accent3>
        <a:accent4>
          <a:srgbClr val="590000"/>
        </a:accent4>
        <a:accent5>
          <a:srgbClr val="E2ADAA"/>
        </a:accent5>
        <a:accent6>
          <a:srgbClr val="B95C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7">
        <a:dk1>
          <a:srgbClr val="4F4F77"/>
        </a:dk1>
        <a:lt1>
          <a:srgbClr val="FFFFFF"/>
        </a:lt1>
        <a:dk2>
          <a:srgbClr val="4A7911"/>
        </a:dk2>
        <a:lt2>
          <a:srgbClr val="FFFFFF"/>
        </a:lt2>
        <a:accent1>
          <a:srgbClr val="336600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ADB8AA"/>
        </a:accent5>
        <a:accent6>
          <a:srgbClr val="5C8A00"/>
        </a:accent6>
        <a:hlink>
          <a:srgbClr val="99CC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FFFFFF"/>
        </a:dk2>
        <a:lt2>
          <a:srgbClr val="4F4F77"/>
        </a:lt2>
        <a:accent1>
          <a:srgbClr val="3366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ADB8AA"/>
        </a:accent5>
        <a:accent6>
          <a:srgbClr val="5C8A00"/>
        </a:accent6>
        <a:hlink>
          <a:srgbClr val="99CC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8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8080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0C0"/>
        </a:accent5>
        <a:accent6>
          <a:srgbClr val="008A8A"/>
        </a:accent6>
        <a:hlink>
          <a:srgbClr val="70CAC6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10">
        <a:dk1>
          <a:srgbClr val="4F4F77"/>
        </a:dk1>
        <a:lt1>
          <a:srgbClr val="FFFFFF"/>
        </a:lt1>
        <a:dk2>
          <a:srgbClr val="330000"/>
        </a:dk2>
        <a:lt2>
          <a:srgbClr val="FFFFFF"/>
        </a:lt2>
        <a:accent1>
          <a:srgbClr val="822504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C1ACAA"/>
        </a:accent5>
        <a:accent6>
          <a:srgbClr val="8F2505"/>
        </a:accent6>
        <a:hlink>
          <a:srgbClr val="7C0704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11">
        <a:dk1>
          <a:srgbClr val="333333"/>
        </a:dk1>
        <a:lt1>
          <a:srgbClr val="FFFFFF"/>
        </a:lt1>
        <a:dk2>
          <a:srgbClr val="333399"/>
        </a:dk2>
        <a:lt2>
          <a:srgbClr val="FFFFFF"/>
        </a:lt2>
        <a:accent1>
          <a:srgbClr val="006699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B8CA"/>
        </a:accent5>
        <a:accent6>
          <a:srgbClr val="02799E"/>
        </a:accent6>
        <a:hlink>
          <a:srgbClr val="6699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000080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AAAC0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2695</Words>
  <Application>Microsoft Office PowerPoint</Application>
  <PresentationFormat>On-screen Show (4:3)</PresentationFormat>
  <Paragraphs>524</Paragraphs>
  <Slides>54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6" baseType="lpstr">
      <vt:lpstr>Noto Sans Symbols</vt:lpstr>
      <vt:lpstr>Times</vt:lpstr>
      <vt:lpstr>Arial Black</vt:lpstr>
      <vt:lpstr>Arial</vt:lpstr>
      <vt:lpstr>Wingdings</vt:lpstr>
      <vt:lpstr>Times New Roman</vt:lpstr>
      <vt:lpstr>Helvetica Neue</vt:lpstr>
      <vt:lpstr>Courier</vt:lpstr>
      <vt:lpstr>1_Pixel</vt:lpstr>
      <vt:lpstr>Pixel</vt:lpstr>
      <vt:lpstr>2_Pixel</vt:lpstr>
      <vt:lpstr>Microsoft Equation</vt:lpstr>
      <vt:lpstr>Artificial intelligence: Informed Search</vt:lpstr>
      <vt:lpstr>Outline</vt:lpstr>
      <vt:lpstr>Previously: tree-search</vt:lpstr>
      <vt:lpstr>Best-first search </vt:lpstr>
      <vt:lpstr>A heuristic function</vt:lpstr>
      <vt:lpstr>Romania with step costs in km</vt:lpstr>
      <vt:lpstr>Greedy search example</vt:lpstr>
      <vt:lpstr>Greedy search example</vt:lpstr>
      <vt:lpstr>Greedy search example</vt:lpstr>
      <vt:lpstr>Greedy search example</vt:lpstr>
      <vt:lpstr>A* search</vt:lpstr>
      <vt:lpstr>Greedy search, evaluation</vt:lpstr>
      <vt:lpstr>Greedy search, evaluation</vt:lpstr>
      <vt:lpstr>Greedy search, evaluation</vt:lpstr>
      <vt:lpstr>Pathfinding</vt:lpstr>
      <vt:lpstr>A* search</vt:lpstr>
      <vt:lpstr>A* search</vt:lpstr>
      <vt:lpstr>Romania example</vt:lpstr>
      <vt:lpstr>A* search example</vt:lpstr>
      <vt:lpstr>A* search example</vt:lpstr>
      <vt:lpstr>A* search example</vt:lpstr>
      <vt:lpstr>A* search example</vt:lpstr>
      <vt:lpstr>A* search example</vt:lpstr>
      <vt:lpstr>A* search example</vt:lpstr>
      <vt:lpstr>Optimality of A*(standard proof)</vt:lpstr>
      <vt:lpstr>BUT … graph search </vt:lpstr>
      <vt:lpstr>Consistency </vt:lpstr>
      <vt:lpstr>Optimality of A*(more usefull)</vt:lpstr>
      <vt:lpstr>A* search, evaluation</vt:lpstr>
      <vt:lpstr>A* search, evaluation</vt:lpstr>
      <vt:lpstr>A* search, evaluation</vt:lpstr>
      <vt:lpstr>A* search, evaluation</vt:lpstr>
      <vt:lpstr>A* search</vt:lpstr>
      <vt:lpstr>PowerPoint Presentation</vt:lpstr>
      <vt:lpstr>Heuristic functions</vt:lpstr>
      <vt:lpstr>Heuristic functions</vt:lpstr>
      <vt:lpstr>Heuristic quality</vt:lpstr>
      <vt:lpstr>Heuristic quality and dominance</vt:lpstr>
      <vt:lpstr>Inventing admissible heuristics</vt:lpstr>
      <vt:lpstr>Inventing admissible heuristics</vt:lpstr>
      <vt:lpstr>Inventing admissible heuristics</vt:lpstr>
      <vt:lpstr>Local search and optimization</vt:lpstr>
      <vt:lpstr>Local search and optimization</vt:lpstr>
      <vt:lpstr>Hill-climbing search</vt:lpstr>
      <vt:lpstr>Hill-climbing search</vt:lpstr>
      <vt:lpstr>Hill-climbing example</vt:lpstr>
      <vt:lpstr>Hill-climbing example </vt:lpstr>
      <vt:lpstr>Drawbacks</vt:lpstr>
      <vt:lpstr>Hill-climbing variations</vt:lpstr>
      <vt:lpstr>Pathfinding Applications</vt:lpstr>
      <vt:lpstr>Pathfinding Applications</vt:lpstr>
      <vt:lpstr>Pathfinding Applications</vt:lpstr>
      <vt:lpstr>Pathfinding Applications</vt:lpstr>
      <vt:lpstr>Pathfinding Applications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intelligence: Informed Search</dc:title>
  <dc:creator>Stone, Christopher</dc:creator>
  <cp:lastModifiedBy>Stone, Christopher</cp:lastModifiedBy>
  <cp:revision>3</cp:revision>
  <dcterms:modified xsi:type="dcterms:W3CDTF">2017-01-30T16:22:26Z</dcterms:modified>
</cp:coreProperties>
</file>