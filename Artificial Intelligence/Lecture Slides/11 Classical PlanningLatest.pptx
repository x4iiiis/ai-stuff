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62" r:id="rId16"/>
    <p:sldId id="273" r:id="rId17"/>
    <p:sldId id="274" r:id="rId18"/>
    <p:sldId id="275" r:id="rId19"/>
    <p:sldId id="277" r:id="rId20"/>
    <p:sldId id="278" r:id="rId21"/>
    <p:sldId id="279" r:id="rId22"/>
    <p:sldId id="276" r:id="rId23"/>
    <p:sldId id="280" r:id="rId24"/>
    <p:sldId id="281" r:id="rId25"/>
    <p:sldId id="283" r:id="rId26"/>
    <p:sldId id="284" r:id="rId27"/>
    <p:sldId id="282" r:id="rId28"/>
    <p:sldId id="285" r:id="rId29"/>
    <p:sldId id="286" r:id="rId30"/>
    <p:sldId id="263" r:id="rId31"/>
    <p:sldId id="287" r:id="rId32"/>
    <p:sldId id="288" r:id="rId33"/>
    <p:sldId id="289" r:id="rId34"/>
    <p:sldId id="291" r:id="rId35"/>
    <p:sldId id="292" r:id="rId36"/>
    <p:sldId id="294" r:id="rId37"/>
    <p:sldId id="293" r:id="rId38"/>
    <p:sldId id="26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rquhart, Neil" initials="UN" lastIdx="1" clrIdx="0">
    <p:extLst>
      <p:ext uri="{19B8F6BF-5375-455C-9EA6-DF929625EA0E}">
        <p15:presenceInfo xmlns:p15="http://schemas.microsoft.com/office/powerpoint/2012/main" userId="S-1-5-21-199048513-897128045-483988704-3791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46" autoAdjust="0"/>
  </p:normalViewPr>
  <p:slideViewPr>
    <p:cSldViewPr snapToGrid="0">
      <p:cViewPr varScale="1">
        <p:scale>
          <a:sx n="106" d="100"/>
          <a:sy n="106" d="100"/>
        </p:scale>
        <p:origin x="1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833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106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39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448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735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803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33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653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109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80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83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AA3EB-A5FD-4EE7-A209-7DC596B810DA}" type="datetimeFigureOut">
              <a:rPr lang="en-GB" smtClean="0"/>
              <a:t>19/03/2017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C9B93-E063-426A-B589-DD03BB3BF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84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editor.planning.domains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texas.edu/~vl/teaching/planning/pddl/strict-domains/ferry/" TargetMode="External"/><Relationship Id="rId2" Type="http://schemas.openxmlformats.org/officeDocument/2006/relationships/hyperlink" Target="http://www.cs.utexas.edu/~vl/teaching/planning/pddl/strict-domains/logistics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Classical Planning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Introduction to Artificial Intelligence</a:t>
            </a:r>
          </a:p>
          <a:p>
            <a:r>
              <a:rPr lang="en-GB" dirty="0" smtClean="0"/>
              <a:t>Dr Neil Urquhart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5177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planning?	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Problems may be solved by planning.</a:t>
            </a:r>
          </a:p>
          <a:p>
            <a:r>
              <a:rPr lang="en-GB" dirty="0" smtClean="0"/>
              <a:t>A plan describes how to solve a problem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4891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a plan?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We commence with a initial state</a:t>
            </a:r>
          </a:p>
          <a:p>
            <a:r>
              <a:rPr lang="en-GB" dirty="0" smtClean="0"/>
              <a:t>We follow a series of actions</a:t>
            </a:r>
          </a:p>
          <a:p>
            <a:r>
              <a:rPr lang="en-GB" dirty="0" smtClean="0"/>
              <a:t>We end up at a goal state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583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a plan?  </a:t>
            </a:r>
            <a:r>
              <a:rPr lang="en-GB" i="1" dirty="0" smtClean="0"/>
              <a:t>Example…..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We commence with a initial state</a:t>
            </a:r>
          </a:p>
          <a:p>
            <a:pPr lvl="1"/>
            <a:r>
              <a:rPr lang="en-GB" i="1" dirty="0" smtClean="0"/>
              <a:t>We have some planes and goods at various airports</a:t>
            </a:r>
          </a:p>
          <a:p>
            <a:r>
              <a:rPr lang="en-GB" dirty="0" smtClean="0"/>
              <a:t>We follow a series of actions</a:t>
            </a:r>
          </a:p>
          <a:p>
            <a:pPr lvl="1"/>
            <a:r>
              <a:rPr lang="en-GB" i="1" dirty="0" smtClean="0"/>
              <a:t>Load the goods onto planes and fly them to their destinations then unload</a:t>
            </a:r>
          </a:p>
          <a:p>
            <a:r>
              <a:rPr lang="en-GB" dirty="0" smtClean="0"/>
              <a:t>We end up at a goal state</a:t>
            </a:r>
          </a:p>
          <a:p>
            <a:pPr lvl="1"/>
            <a:r>
              <a:rPr lang="en-GB" i="1" dirty="0" smtClean="0"/>
              <a:t>All of the goods and planes are now at their destination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339458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 solving with plans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We have start state</a:t>
            </a:r>
          </a:p>
          <a:p>
            <a:r>
              <a:rPr lang="en-GB" dirty="0" smtClean="0"/>
              <a:t>There will be a number of predefined actions that we can carry out to alter the state of our problem</a:t>
            </a:r>
          </a:p>
          <a:p>
            <a:r>
              <a:rPr lang="en-GB" dirty="0" smtClean="0"/>
              <a:t>We have a an end state which represents where we wish to be</a:t>
            </a:r>
          </a:p>
          <a:p>
            <a:r>
              <a:rPr lang="en-GB" dirty="0" smtClean="0"/>
              <a:t>We can (potentially) solve the problem by finding a sequence of actions which move the problem from the start state to the goal state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574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simple example: Scenario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We have a goods </a:t>
            </a:r>
            <a:r>
              <a:rPr lang="en-GB" i="1" dirty="0"/>
              <a:t>g</a:t>
            </a:r>
            <a:endParaRPr lang="en-GB" i="1" dirty="0" smtClean="0"/>
          </a:p>
          <a:p>
            <a:r>
              <a:rPr lang="en-GB" dirty="0" smtClean="0"/>
              <a:t>We have a truck </a:t>
            </a:r>
            <a:r>
              <a:rPr lang="en-GB" i="1" dirty="0" smtClean="0"/>
              <a:t>t</a:t>
            </a:r>
            <a:endParaRPr lang="en-GB" dirty="0" smtClean="0"/>
          </a:p>
          <a:p>
            <a:r>
              <a:rPr lang="en-GB" dirty="0" smtClean="0"/>
              <a:t>We have a location </a:t>
            </a:r>
            <a:r>
              <a:rPr lang="en-GB" i="1" dirty="0" err="1" smtClean="0"/>
              <a:t>Edin</a:t>
            </a:r>
            <a:endParaRPr lang="en-GB" i="1" dirty="0" smtClean="0"/>
          </a:p>
          <a:p>
            <a:r>
              <a:rPr lang="en-GB" dirty="0" smtClean="0"/>
              <a:t>We have a location </a:t>
            </a:r>
            <a:r>
              <a:rPr lang="en-GB" i="1" dirty="0" err="1" smtClean="0"/>
              <a:t>Glas</a:t>
            </a:r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2456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simple example: Actions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Drive(</a:t>
            </a:r>
            <a:r>
              <a:rPr lang="en-GB" i="1" dirty="0" smtClean="0"/>
              <a:t>truck, start, destination)</a:t>
            </a:r>
          </a:p>
          <a:p>
            <a:pPr lvl="1"/>
            <a:r>
              <a:rPr lang="en-GB" dirty="0" smtClean="0"/>
              <a:t>Drives the truck from the start to the destination</a:t>
            </a:r>
          </a:p>
          <a:p>
            <a:pPr lvl="1"/>
            <a:r>
              <a:rPr lang="en-GB" dirty="0" smtClean="0"/>
              <a:t>Assumes that the truck is at the start</a:t>
            </a:r>
          </a:p>
          <a:p>
            <a:r>
              <a:rPr lang="en-GB" dirty="0" smtClean="0"/>
              <a:t>Load</a:t>
            </a:r>
            <a:r>
              <a:rPr lang="en-GB" i="1" dirty="0" smtClean="0"/>
              <a:t>(truck, goods)</a:t>
            </a:r>
          </a:p>
          <a:p>
            <a:pPr lvl="1"/>
            <a:r>
              <a:rPr lang="en-GB" dirty="0" smtClean="0"/>
              <a:t>Loads the goods onto the truck </a:t>
            </a:r>
          </a:p>
          <a:p>
            <a:pPr lvl="1"/>
            <a:r>
              <a:rPr lang="en-GB" dirty="0" smtClean="0"/>
              <a:t>Assumes that the truck and goods are at the same location</a:t>
            </a:r>
          </a:p>
          <a:p>
            <a:r>
              <a:rPr lang="en-GB" dirty="0" smtClean="0"/>
              <a:t>Unload(</a:t>
            </a:r>
            <a:r>
              <a:rPr lang="en-GB" i="1" dirty="0" smtClean="0"/>
              <a:t>truck, goods)</a:t>
            </a:r>
            <a:endParaRPr lang="en-GB" dirty="0" smtClean="0"/>
          </a:p>
          <a:p>
            <a:pPr lvl="1"/>
            <a:r>
              <a:rPr lang="en-GB" dirty="0" smtClean="0"/>
              <a:t>Unload the goods from the truck</a:t>
            </a:r>
          </a:p>
          <a:p>
            <a:pPr lvl="1"/>
            <a:r>
              <a:rPr lang="en-GB" dirty="0" smtClean="0"/>
              <a:t>Assumes that the goods are on the truck</a:t>
            </a:r>
          </a:p>
          <a:p>
            <a:pPr lvl="1"/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891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simple example: </a:t>
            </a:r>
            <a:r>
              <a:rPr lang="en-GB" i="1" dirty="0" smtClean="0"/>
              <a:t>Initial state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Goods </a:t>
            </a:r>
            <a:r>
              <a:rPr lang="en-GB" i="1" dirty="0" smtClean="0"/>
              <a:t>g</a:t>
            </a:r>
            <a:r>
              <a:rPr lang="en-GB" dirty="0" smtClean="0"/>
              <a:t> @ Location </a:t>
            </a:r>
            <a:r>
              <a:rPr lang="en-GB" i="1" dirty="0" err="1" smtClean="0"/>
              <a:t>Edin</a:t>
            </a:r>
            <a:endParaRPr lang="en-GB" i="1" dirty="0" smtClean="0"/>
          </a:p>
          <a:p>
            <a:r>
              <a:rPr lang="en-GB" dirty="0" smtClean="0"/>
              <a:t>Truck </a:t>
            </a:r>
            <a:r>
              <a:rPr lang="en-GB" i="1" dirty="0" smtClean="0"/>
              <a:t>t @ </a:t>
            </a:r>
            <a:r>
              <a:rPr lang="en-GB" dirty="0" smtClean="0"/>
              <a:t>Location </a:t>
            </a:r>
            <a:r>
              <a:rPr lang="en-GB" i="1" dirty="0" err="1" smtClean="0"/>
              <a:t>Edin</a:t>
            </a:r>
            <a:endParaRPr lang="en-GB" i="1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143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Simple Example: </a:t>
            </a:r>
            <a:r>
              <a:rPr lang="en-GB" i="1" dirty="0" smtClean="0"/>
              <a:t>Goal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Goods </a:t>
            </a:r>
            <a:r>
              <a:rPr lang="en-GB" i="1" dirty="0" smtClean="0"/>
              <a:t>g</a:t>
            </a:r>
            <a:r>
              <a:rPr lang="en-GB" dirty="0" smtClean="0"/>
              <a:t> @ Location </a:t>
            </a:r>
            <a:r>
              <a:rPr lang="en-GB" b="1" i="1" dirty="0" err="1" smtClean="0"/>
              <a:t>Glas</a:t>
            </a:r>
            <a:endParaRPr lang="en-GB" b="1" i="1" dirty="0" smtClean="0"/>
          </a:p>
          <a:p>
            <a:r>
              <a:rPr lang="en-GB" dirty="0" smtClean="0"/>
              <a:t>Truck </a:t>
            </a:r>
            <a:r>
              <a:rPr lang="en-GB" i="1" dirty="0" smtClean="0"/>
              <a:t>t @ </a:t>
            </a:r>
            <a:r>
              <a:rPr lang="en-GB" dirty="0" smtClean="0"/>
              <a:t>Location </a:t>
            </a:r>
            <a:r>
              <a:rPr lang="en-GB" i="1" dirty="0" err="1" smtClean="0"/>
              <a:t>Edin</a:t>
            </a:r>
            <a:endParaRPr lang="en-GB" i="1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0400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simple example: </a:t>
            </a:r>
            <a:r>
              <a:rPr lang="en-GB" i="1" dirty="0" smtClean="0"/>
              <a:t>A plan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Load(</a:t>
            </a:r>
            <a:r>
              <a:rPr lang="en-GB" dirty="0" err="1" smtClean="0"/>
              <a:t>t,g</a:t>
            </a:r>
            <a:r>
              <a:rPr lang="en-GB" dirty="0" smtClean="0"/>
              <a:t>)</a:t>
            </a:r>
          </a:p>
          <a:p>
            <a:r>
              <a:rPr lang="en-GB" dirty="0" smtClean="0"/>
              <a:t>Drive(</a:t>
            </a:r>
            <a:r>
              <a:rPr lang="en-GB" dirty="0" err="1" smtClean="0"/>
              <a:t>t,edin,glas</a:t>
            </a:r>
            <a:r>
              <a:rPr lang="en-GB" dirty="0" smtClean="0"/>
              <a:t>)</a:t>
            </a:r>
          </a:p>
          <a:p>
            <a:r>
              <a:rPr lang="en-GB" dirty="0" smtClean="0"/>
              <a:t>Unload(</a:t>
            </a:r>
            <a:r>
              <a:rPr lang="en-GB" dirty="0" err="1" smtClean="0"/>
              <a:t>t,g</a:t>
            </a:r>
            <a:r>
              <a:rPr lang="en-GB" dirty="0" smtClean="0"/>
              <a:t>)</a:t>
            </a:r>
          </a:p>
          <a:p>
            <a:r>
              <a:rPr lang="en-GB" dirty="0" smtClean="0"/>
              <a:t>Drive(</a:t>
            </a:r>
            <a:r>
              <a:rPr lang="en-GB" dirty="0" err="1" smtClean="0"/>
              <a:t>t,glas,edin</a:t>
            </a:r>
            <a:r>
              <a:rPr lang="en-GB" dirty="0" smtClean="0"/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711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simple example: </a:t>
            </a:r>
            <a:r>
              <a:rPr lang="en-GB" i="1" dirty="0" smtClean="0"/>
              <a:t>A plan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Load(</a:t>
            </a:r>
            <a:r>
              <a:rPr lang="en-GB" dirty="0" err="1" smtClean="0"/>
              <a:t>t,g</a:t>
            </a:r>
            <a:r>
              <a:rPr lang="en-GB" dirty="0" smtClean="0"/>
              <a:t>)  			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 the goods at </a:t>
            </a:r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Edin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onto the truck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Drive(</a:t>
            </a:r>
            <a:r>
              <a:rPr lang="en-GB" dirty="0" err="1" smtClean="0"/>
              <a:t>t,edin,glas</a:t>
            </a:r>
            <a:r>
              <a:rPr lang="en-GB" dirty="0" smtClean="0"/>
              <a:t>)		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Drive the truck and goods to </a:t>
            </a:r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Glas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Unload(</a:t>
            </a:r>
            <a:r>
              <a:rPr lang="en-GB" dirty="0" err="1" smtClean="0"/>
              <a:t>t,g</a:t>
            </a:r>
            <a:r>
              <a:rPr lang="en-GB" dirty="0" smtClean="0"/>
              <a:t>)			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Unload the truck in </a:t>
            </a:r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Glas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Drive(</a:t>
            </a:r>
            <a:r>
              <a:rPr lang="en-GB" dirty="0" err="1" smtClean="0"/>
              <a:t>t,glas,edin</a:t>
            </a:r>
            <a:r>
              <a:rPr lang="en-GB" dirty="0" smtClean="0"/>
              <a:t>)		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Drive the truck back to Edinburgh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854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simple example: </a:t>
            </a:r>
            <a:r>
              <a:rPr lang="en-GB" i="1" dirty="0" smtClean="0"/>
              <a:t>A plan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Load(</a:t>
            </a:r>
            <a:r>
              <a:rPr lang="en-GB" dirty="0" err="1" smtClean="0"/>
              <a:t>t,g</a:t>
            </a:r>
            <a:r>
              <a:rPr lang="en-GB" dirty="0" smtClean="0"/>
              <a:t>)  			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 the goods at </a:t>
            </a:r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Edin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onto the truck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Drive(</a:t>
            </a:r>
            <a:r>
              <a:rPr lang="en-GB" dirty="0" err="1" smtClean="0"/>
              <a:t>t,edin,glas</a:t>
            </a:r>
            <a:r>
              <a:rPr lang="en-GB" dirty="0" smtClean="0"/>
              <a:t>)		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Drive the truck and goods to </a:t>
            </a:r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Glas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Unload(</a:t>
            </a:r>
            <a:r>
              <a:rPr lang="en-GB" dirty="0" err="1" smtClean="0"/>
              <a:t>t,g</a:t>
            </a:r>
            <a:r>
              <a:rPr lang="en-GB" dirty="0" smtClean="0"/>
              <a:t>)			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Unload the truck in </a:t>
            </a:r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Glas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Drive(</a:t>
            </a:r>
            <a:r>
              <a:rPr lang="en-GB" dirty="0" err="1" smtClean="0"/>
              <a:t>t,glas,edin</a:t>
            </a:r>
            <a:r>
              <a:rPr lang="en-GB" dirty="0" smtClean="0"/>
              <a:t>)		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Drive the truck back to Edinburgh</a:t>
            </a: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Goal state reached! </a:t>
            </a:r>
            <a:r>
              <a:rPr lang="en-GB" i="1" dirty="0" smtClean="0"/>
              <a:t> The goods g are at </a:t>
            </a:r>
            <a:r>
              <a:rPr lang="en-GB" i="1" dirty="0" err="1" smtClean="0"/>
              <a:t>Glas</a:t>
            </a:r>
            <a:r>
              <a:rPr lang="en-GB" i="1" dirty="0" smtClean="0"/>
              <a:t> (step 3) and the truck t is back in </a:t>
            </a:r>
            <a:r>
              <a:rPr lang="en-GB" i="1" dirty="0" err="1" smtClean="0"/>
              <a:t>Edin</a:t>
            </a:r>
            <a:r>
              <a:rPr lang="en-GB" i="1" dirty="0" smtClean="0"/>
              <a:t>(step 4)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358165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more complex example…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Assume we have trucks, goods, locations and actions as before</a:t>
            </a:r>
          </a:p>
          <a:p>
            <a:r>
              <a:rPr lang="en-GB" dirty="0" smtClean="0"/>
              <a:t>Each lorry can only carry 1 item of goods</a:t>
            </a:r>
          </a:p>
          <a:p>
            <a:r>
              <a:rPr lang="en-GB" dirty="0" smtClean="0"/>
              <a:t>Start State:</a:t>
            </a:r>
          </a:p>
          <a:p>
            <a:pPr lvl="1"/>
            <a:r>
              <a:rPr lang="en-GB" dirty="0" smtClean="0"/>
              <a:t>Lorry l1,l2,l3 @ </a:t>
            </a:r>
            <a:r>
              <a:rPr lang="en-GB" dirty="0" err="1" smtClean="0"/>
              <a:t>Edin</a:t>
            </a:r>
            <a:endParaRPr lang="en-GB" dirty="0" smtClean="0"/>
          </a:p>
          <a:p>
            <a:pPr lvl="1"/>
            <a:r>
              <a:rPr lang="en-GB" dirty="0" smtClean="0"/>
              <a:t>Goods g1,g2 @ </a:t>
            </a:r>
            <a:r>
              <a:rPr lang="en-GB" dirty="0" err="1" smtClean="0"/>
              <a:t>Glas</a:t>
            </a:r>
            <a:endParaRPr lang="en-GB" dirty="0" smtClean="0"/>
          </a:p>
          <a:p>
            <a:pPr lvl="1"/>
            <a:r>
              <a:rPr lang="en-GB" dirty="0" smtClean="0"/>
              <a:t>Goods g4,g5 @ Perth</a:t>
            </a:r>
          </a:p>
          <a:p>
            <a:r>
              <a:rPr lang="en-GB" dirty="0" smtClean="0"/>
              <a:t>End State</a:t>
            </a:r>
          </a:p>
          <a:p>
            <a:pPr lvl="1"/>
            <a:r>
              <a:rPr lang="en-GB" dirty="0" smtClean="0"/>
              <a:t>Lorry l1,l2,l3 @ </a:t>
            </a:r>
            <a:r>
              <a:rPr lang="en-GB" dirty="0" err="1" smtClean="0"/>
              <a:t>Edin</a:t>
            </a:r>
            <a:endParaRPr lang="en-GB" dirty="0" smtClean="0"/>
          </a:p>
          <a:p>
            <a:pPr lvl="1"/>
            <a:r>
              <a:rPr lang="en-GB" dirty="0" smtClean="0"/>
              <a:t>Goods g4@ </a:t>
            </a:r>
            <a:r>
              <a:rPr lang="en-GB" dirty="0" err="1" smtClean="0"/>
              <a:t>Glas</a:t>
            </a:r>
            <a:endParaRPr lang="en-GB" dirty="0" smtClean="0"/>
          </a:p>
          <a:p>
            <a:pPr lvl="1"/>
            <a:r>
              <a:rPr lang="en-GB" dirty="0" smtClean="0"/>
              <a:t>Goods g1@ Perth</a:t>
            </a:r>
          </a:p>
          <a:p>
            <a:pPr lvl="1"/>
            <a:r>
              <a:rPr lang="en-GB" dirty="0" smtClean="0"/>
              <a:t>Goods g2,g5@ </a:t>
            </a:r>
            <a:r>
              <a:rPr lang="en-GB" dirty="0" err="1" smtClean="0"/>
              <a:t>Edin</a:t>
            </a: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8379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Can we come up with a solution?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8554"/>
            <a:ext cx="10515600" cy="4728409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drive l1 -</a:t>
            </a:r>
            <a:r>
              <a:rPr lang="en-GB" dirty="0" err="1"/>
              <a:t>Edin</a:t>
            </a:r>
            <a:r>
              <a:rPr lang="en-GB" dirty="0"/>
              <a:t> - </a:t>
            </a:r>
            <a:r>
              <a:rPr lang="en-GB" dirty="0" err="1"/>
              <a:t>Glas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drive l2 - </a:t>
            </a:r>
            <a:r>
              <a:rPr lang="en-GB" dirty="0" err="1"/>
              <a:t>Edin</a:t>
            </a:r>
            <a:r>
              <a:rPr lang="en-GB" dirty="0"/>
              <a:t> -  </a:t>
            </a:r>
            <a:r>
              <a:rPr lang="en-GB" dirty="0" err="1"/>
              <a:t>Glas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drive l3 - </a:t>
            </a:r>
            <a:r>
              <a:rPr lang="en-GB" dirty="0" err="1"/>
              <a:t>Edin</a:t>
            </a:r>
            <a:r>
              <a:rPr lang="en-GB" dirty="0"/>
              <a:t> - </a:t>
            </a:r>
            <a:r>
              <a:rPr lang="en-GB" dirty="0" smtClean="0"/>
              <a:t>Perth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load l1, g1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load l2, g2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load l3, </a:t>
            </a:r>
            <a:r>
              <a:rPr lang="en-GB" dirty="0" smtClean="0"/>
              <a:t>g4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drive l1 </a:t>
            </a:r>
            <a:r>
              <a:rPr lang="en-GB" dirty="0" err="1"/>
              <a:t>Glas</a:t>
            </a:r>
            <a:r>
              <a:rPr lang="en-GB" dirty="0"/>
              <a:t> - Perth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unload l1  == G1 now in </a:t>
            </a:r>
            <a:r>
              <a:rPr lang="en-GB" dirty="0" smtClean="0"/>
              <a:t>Pert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drive l2, </a:t>
            </a:r>
            <a:r>
              <a:rPr lang="en-GB" dirty="0" smtClean="0"/>
              <a:t> </a:t>
            </a:r>
            <a:r>
              <a:rPr lang="en-GB" dirty="0" err="1" smtClean="0"/>
              <a:t>Glas</a:t>
            </a:r>
            <a:r>
              <a:rPr lang="en-GB" dirty="0" smtClean="0"/>
              <a:t> </a:t>
            </a:r>
            <a:r>
              <a:rPr lang="en-GB" dirty="0"/>
              <a:t>- </a:t>
            </a:r>
            <a:r>
              <a:rPr lang="en-GB" dirty="0" err="1"/>
              <a:t>Edin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unload g2, </a:t>
            </a:r>
            <a:r>
              <a:rPr lang="en-GB" dirty="0" err="1"/>
              <a:t>Edin</a:t>
            </a:r>
            <a:r>
              <a:rPr lang="en-GB" dirty="0"/>
              <a:t> = g2 now in </a:t>
            </a:r>
            <a:r>
              <a:rPr lang="en-GB" dirty="0" err="1"/>
              <a:t>Edin</a:t>
            </a:r>
            <a:r>
              <a:rPr lang="en-GB" dirty="0"/>
              <a:t>, l2 now in </a:t>
            </a:r>
            <a:r>
              <a:rPr lang="en-GB" dirty="0" err="1" smtClean="0"/>
              <a:t>Edin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drive l3, </a:t>
            </a:r>
            <a:r>
              <a:rPr lang="en-GB" dirty="0" err="1"/>
              <a:t>Peth</a:t>
            </a:r>
            <a:r>
              <a:rPr lang="en-GB" dirty="0"/>
              <a:t> </a:t>
            </a:r>
            <a:r>
              <a:rPr lang="en-GB" dirty="0" err="1"/>
              <a:t>Glas</a:t>
            </a:r>
            <a:r>
              <a:rPr lang="en-GB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unload g4, </a:t>
            </a:r>
            <a:r>
              <a:rPr lang="en-GB" dirty="0" err="1"/>
              <a:t>glas</a:t>
            </a:r>
            <a:r>
              <a:rPr lang="en-GB" dirty="0"/>
              <a:t> = g4 now in </a:t>
            </a:r>
            <a:r>
              <a:rPr lang="en-GB" dirty="0" err="1"/>
              <a:t>Glas</a:t>
            </a:r>
            <a:r>
              <a:rPr lang="en-GB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drive l3, </a:t>
            </a:r>
            <a:r>
              <a:rPr lang="en-GB" dirty="0" err="1"/>
              <a:t>Glas</a:t>
            </a:r>
            <a:r>
              <a:rPr lang="en-GB" dirty="0"/>
              <a:t>, </a:t>
            </a:r>
            <a:r>
              <a:rPr lang="en-GB" dirty="0" err="1"/>
              <a:t>Edin</a:t>
            </a:r>
            <a:r>
              <a:rPr lang="en-GB" dirty="0"/>
              <a:t> = l3 now in </a:t>
            </a:r>
            <a:r>
              <a:rPr lang="en-GB" dirty="0" err="1" smtClean="0"/>
              <a:t>Edin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load l1, g5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drive l1, Perth - </a:t>
            </a:r>
            <a:r>
              <a:rPr lang="en-GB" dirty="0" err="1"/>
              <a:t>Edin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unload l1  = g5 now in </a:t>
            </a:r>
            <a:r>
              <a:rPr lang="en-GB" dirty="0" err="1"/>
              <a:t>Edin</a:t>
            </a:r>
            <a:r>
              <a:rPr lang="en-GB" dirty="0"/>
              <a:t>, l1 now in </a:t>
            </a:r>
            <a:r>
              <a:rPr lang="en-GB" dirty="0" err="1"/>
              <a:t>Edin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336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PDDL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Planning Domain Definition Language</a:t>
            </a:r>
          </a:p>
          <a:p>
            <a:r>
              <a:rPr lang="en-GB" dirty="0" smtClean="0"/>
              <a:t>Allows us to formally specify planning problems</a:t>
            </a:r>
          </a:p>
          <a:p>
            <a:r>
              <a:rPr lang="en-GB" dirty="0" smtClean="0"/>
              <a:t>Allows automated planning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1588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PPDL Action…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Action(Fly(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p,from,to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PRECOND: At(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Plane(p) Ʌ Airport(from) Ʌ Airport(to)</a:t>
            </a:r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EFFECT:¬At(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p,to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dirty="0" smtClean="0">
                <a:latin typeface="+mj-lt"/>
              </a:rPr>
              <a:t>This action moves an aircraft </a:t>
            </a:r>
            <a:r>
              <a:rPr lang="en-GB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GB" dirty="0" smtClean="0">
                <a:latin typeface="+mj-lt"/>
              </a:rPr>
              <a:t> between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from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dirty="0" smtClean="0">
                <a:latin typeface="+mj-lt"/>
              </a:rPr>
              <a:t>and </a:t>
            </a:r>
            <a:r>
              <a:rPr lang="en-GB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to .</a:t>
            </a:r>
            <a:endParaRPr lang="en-GB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934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PPDL Action…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1121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Action(Fly(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p,from,to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PRECOND: At(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Plane(p) Ʌ Airport(from) Ʌ Airport(to)</a:t>
            </a:r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EFFECT:¬At(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p,to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dirty="0" smtClean="0"/>
              <a:t>A PDDL action consists of:</a:t>
            </a:r>
          </a:p>
          <a:p>
            <a:r>
              <a:rPr lang="en-GB" dirty="0" smtClean="0"/>
              <a:t>Name and a list of variables used</a:t>
            </a:r>
          </a:p>
          <a:p>
            <a:r>
              <a:rPr lang="en-GB" dirty="0" smtClean="0"/>
              <a:t>Precondition: defines the states in which the action can be executed</a:t>
            </a:r>
          </a:p>
          <a:p>
            <a:r>
              <a:rPr lang="en-GB" dirty="0" smtClean="0"/>
              <a:t>Effect: defines effect of the action on the variables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4895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059" y="0"/>
            <a:ext cx="10515600" cy="1325563"/>
          </a:xfrm>
        </p:spPr>
        <p:txBody>
          <a:bodyPr/>
          <a:lstStyle/>
          <a:p>
            <a:r>
              <a:rPr lang="en-GB" dirty="0" smtClean="0"/>
              <a:t>Example (from the book): Air Cargo Transport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4486"/>
            <a:ext cx="10515600" cy="54946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Init(At 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SFO)Ʌ At(C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JFK) Ʌ At(P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SFO) Ʌ At(P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JFK) Ʌ 	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Cargo(C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Cargo(C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	Airport(SFO) Ʌ 	Airport(JFK)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Goal(At(C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,JFK) Ʌ At(C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,SFO))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Action(Load(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PRECOND:At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Cargo(c) Ʌ Plane(p) Ʌ Airport(a)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In(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Action(Unload(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PRECOND:In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Cargo(c) Ʌ Plane(p) Ʌ Airport(a)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EFFECT:At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¬In(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Action(Fly(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p,from,to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PRECOND:At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Plane(p) Ʌ Airport(from) Ʌ Airport(to)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EFFECT: ¬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p,to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endParaRPr lang="en-GB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282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059" y="0"/>
            <a:ext cx="10515600" cy="1325563"/>
          </a:xfrm>
        </p:spPr>
        <p:txBody>
          <a:bodyPr/>
          <a:lstStyle/>
          <a:p>
            <a:r>
              <a:rPr lang="en-GB" dirty="0" smtClean="0"/>
              <a:t>Example (from the book): Air Cargo Transport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4486"/>
            <a:ext cx="10515600" cy="54946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Init(At (C</a:t>
            </a:r>
            <a:r>
              <a:rPr lang="en-GB" sz="2400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SFO)Ʌ At(C</a:t>
            </a:r>
            <a:r>
              <a:rPr lang="en-GB" sz="2400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JFK) Ʌ At(P</a:t>
            </a:r>
            <a:r>
              <a:rPr lang="en-GB" sz="2400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SFO) Ʌ At(P</a:t>
            </a:r>
            <a:r>
              <a:rPr lang="en-GB" sz="2400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JFK) Ʌ 	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Cargo(C</a:t>
            </a:r>
            <a:r>
              <a:rPr lang="en-GB" sz="2400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Cargo(C</a:t>
            </a:r>
            <a:r>
              <a:rPr lang="en-GB" sz="2400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Plane(P</a:t>
            </a:r>
            <a:r>
              <a:rPr lang="en-GB" sz="2400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Plane(P</a:t>
            </a:r>
            <a:r>
              <a:rPr lang="en-GB" sz="2400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	Airport(SFO) Ʌ 	Airport(JFK)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Goal(At(C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,JFK) Ʌ At(C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,SFO))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Action(Load(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PRECOND:At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Cargo(c) Ʌ Plane(p) Ʌ Airport(a)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In(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Action(Unload(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PRECOND:In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Cargo(c) Ʌ Plane(p) Ʌ Airport(a)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EFFECT:At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¬In(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Action(Fly(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p,from,to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PRECOND:At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Plane(p) Ʌ Airport(from) Ʌ Airport(to)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EFFECT: ¬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p,to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endParaRPr lang="en-GB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77156" y="1992096"/>
            <a:ext cx="417029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 smtClean="0"/>
              <a:t>Define our initial state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8750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059" y="0"/>
            <a:ext cx="10515600" cy="1325563"/>
          </a:xfrm>
        </p:spPr>
        <p:txBody>
          <a:bodyPr/>
          <a:lstStyle/>
          <a:p>
            <a:r>
              <a:rPr lang="en-GB" dirty="0" smtClean="0"/>
              <a:t>Example (from the book): Air Cargo Transport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4486"/>
            <a:ext cx="10515600" cy="54946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Init(At 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SFO)Ʌ At(C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JFK) Ʌ At(P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SFO) Ʌ At(P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JFK) Ʌ 	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Cargo(C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Cargo(C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	Airport(SFO) Ʌ 	Airport(JFK)</a:t>
            </a:r>
          </a:p>
          <a:p>
            <a:pPr marL="0" indent="0">
              <a:buNone/>
            </a:pP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Goal(At(C</a:t>
            </a:r>
            <a:r>
              <a:rPr lang="en-GB" sz="2400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,JFK) Ʌ At(C</a:t>
            </a:r>
            <a:r>
              <a:rPr lang="en-GB" sz="2400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,SFO))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Action(Load(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PRECOND:At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Cargo(c) Ʌ Plane(p) Ʌ Airport(a)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In(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Action(Unload(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PRECOND:In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Cargo(c) Ʌ Plane(p) Ʌ Airport(a)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EFFECT:At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¬In(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Action(Fly(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p,from,to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PRECOND:At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Plane(p) Ʌ Airport(from) Ʌ Airport(to)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EFFECT: ¬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p,to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endParaRPr lang="en-GB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57651" y="2661955"/>
            <a:ext cx="417029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 smtClean="0"/>
              <a:t>Define our Goal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7383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059" y="0"/>
            <a:ext cx="10515600" cy="1325563"/>
          </a:xfrm>
        </p:spPr>
        <p:txBody>
          <a:bodyPr/>
          <a:lstStyle/>
          <a:p>
            <a:r>
              <a:rPr lang="en-GB" dirty="0" smtClean="0"/>
              <a:t>Example (from the book): Air Cargo Transport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4486"/>
            <a:ext cx="10515600" cy="54946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Init(At 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SFO)Ʌ At(C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JFK) Ʌ At(P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SFO) Ʌ At(P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JFK) Ʌ 	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Cargo(C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Cargo(C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Plane(P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	Airport(SFO) Ʌ 	Airport(JFK)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Goal(At(C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,JFK) Ʌ At(C</a:t>
            </a:r>
            <a:r>
              <a:rPr lang="en-GB" sz="24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,SFO))</a:t>
            </a:r>
          </a:p>
          <a:p>
            <a:pPr marL="0" indent="0">
              <a:buNone/>
            </a:pP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Action(Load(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c,p,a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PRECOND:At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p,a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Cargo(c) Ʌ Plane(p) Ʌ Airport(a)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EFFECT:¬At(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In(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Action(Unload(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c,p,a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PRECOND:In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p,a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Cargo(c) Ʌ Plane(p) Ʌ Airport(a)</a:t>
            </a:r>
          </a:p>
          <a:p>
            <a:pPr marL="0" indent="0">
              <a:buNone/>
            </a:pP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EFFECT:At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c,a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¬In(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c,p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Action(Fly(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p,from,to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PRECOND:At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Plane(p) Ʌ Airport(from) Ʌ Airport(to)</a:t>
            </a:r>
          </a:p>
          <a:p>
            <a:pPr marL="0" indent="0">
              <a:buNone/>
            </a:pP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EFFECT: ¬ At(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p,from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p,to</a:t>
            </a:r>
            <a:r>
              <a:rPr lang="en-GB" sz="2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endParaRPr lang="en-GB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37597" y="3528963"/>
            <a:ext cx="157637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 smtClean="0"/>
              <a:t>Define our actions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6717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solution to our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7086"/>
            <a:ext cx="5898502" cy="5107020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Load(C</a:t>
            </a:r>
            <a:r>
              <a:rPr lang="en-GB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,P</a:t>
            </a:r>
            <a:r>
              <a:rPr lang="en-GB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,SFO),</a:t>
            </a:r>
          </a:p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Fly(P</a:t>
            </a:r>
            <a:r>
              <a:rPr lang="en-GB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,SFO,JFK),</a:t>
            </a:r>
          </a:p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Unload(C</a:t>
            </a:r>
            <a:r>
              <a:rPr lang="en-GB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,P</a:t>
            </a:r>
            <a:r>
              <a:rPr lang="en-GB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,JFK),</a:t>
            </a:r>
          </a:p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Load(C</a:t>
            </a:r>
            <a:r>
              <a:rPr lang="en-GB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,P</a:t>
            </a:r>
            <a:r>
              <a:rPr lang="en-GB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,JKF),</a:t>
            </a:r>
          </a:p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Fly(P</a:t>
            </a:r>
            <a:r>
              <a:rPr lang="en-GB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,JFK,SFO),</a:t>
            </a:r>
          </a:p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Unload(C</a:t>
            </a:r>
            <a:r>
              <a:rPr lang="en-GB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,P</a:t>
            </a:r>
            <a:r>
              <a:rPr lang="en-GB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,SFO)</a:t>
            </a: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877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And now for something completely different…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773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25340"/>
            <a:ext cx="10515600" cy="1325563"/>
          </a:xfrm>
        </p:spPr>
        <p:txBody>
          <a:bodyPr/>
          <a:lstStyle/>
          <a:p>
            <a:r>
              <a:rPr lang="en-GB" dirty="0" smtClean="0"/>
              <a:t>The Spare Tire Proble</a:t>
            </a:r>
            <a:r>
              <a:rPr lang="en-GB" dirty="0"/>
              <a:t>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580" y="771266"/>
            <a:ext cx="10515600" cy="59094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Init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(Tire(Flat) Ʌ Tire(Spare) Ʌ At(Flat, Axle) Ʌ At(Spare, Trunk))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Goal(At(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Spare,Axle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Action(Remove(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obj,loc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obj,loc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 ¬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obj,loc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obj,Ground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PutOn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(t, axle),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 Tire(t) Ʌ At 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t,Ground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Flat,Axle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 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t,Ground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t,Axle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LeaveOvernight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PRECOND: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 ¬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Spare,Ground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Spare,Axle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	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Spare,Trunk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Flat,Ground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Flat,Axle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	¬(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Flat,Trunk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080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25340"/>
            <a:ext cx="10515600" cy="1325563"/>
          </a:xfrm>
        </p:spPr>
        <p:txBody>
          <a:bodyPr/>
          <a:lstStyle/>
          <a:p>
            <a:r>
              <a:rPr lang="en-GB" dirty="0" smtClean="0"/>
              <a:t>The Spare Tire Proble</a:t>
            </a:r>
            <a:r>
              <a:rPr lang="en-GB" dirty="0"/>
              <a:t>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580" y="771266"/>
            <a:ext cx="10515600" cy="59094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Init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(Tire(Flat) Ʌ Tire(Spare) Ʌ At(Flat, Axle) Ʌ At(Spare, Trunk))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Goal(At(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Spare,Axle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Action(Remove(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obj,loc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obj,loc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 ¬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obj,loc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obj,Ground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PutOn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(t, axle),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 Tire(t) Ʌ At 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t,Ground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Flat,Axle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 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t,Ground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t,Axle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LeaveOvernight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>
              <a:buNone/>
            </a:pP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PRECOND:</a:t>
            </a:r>
          </a:p>
          <a:p>
            <a:pPr marL="0" indent="0">
              <a:buNone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 ¬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Spare,Ground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Spare,Axle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	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Spare,Trunk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 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Flat,Ground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¬At(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Flat,Axle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Ʌ 	¬(</a:t>
            </a:r>
            <a:r>
              <a:rPr lang="en-GB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Flat,Trunk</a:t>
            </a:r>
            <a:r>
              <a:rPr lang="en-GB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16017" y="4452693"/>
            <a:ext cx="300993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 smtClean="0"/>
              <a:t>What happens overnight ?!?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5659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plan to change tires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Remove(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Flat,Axle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Remove(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Spare,Trunk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PutOn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GB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Spare,Axle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Automated Planners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If we can specify a problem in PDDL then we can search for a solution automatically.</a:t>
            </a:r>
          </a:p>
          <a:p>
            <a:r>
              <a:rPr lang="en-GB" dirty="0" smtClean="0"/>
              <a:t>It’s not simple, there may exist a great number of possible plans</a:t>
            </a:r>
          </a:p>
          <a:p>
            <a:pPr lvl="1"/>
            <a:r>
              <a:rPr lang="en-GB" dirty="0" smtClean="0"/>
              <a:t>Many will not take us to the goal state</a:t>
            </a:r>
          </a:p>
          <a:p>
            <a:pPr lvl="1"/>
            <a:r>
              <a:rPr lang="en-GB" dirty="0" smtClean="0"/>
              <a:t>Some will take us to the goal state via many unnecessary states</a:t>
            </a:r>
          </a:p>
          <a:p>
            <a:pPr lvl="1"/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7928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An online planner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hlinkClick r:id="rId2"/>
              </a:rPr>
              <a:t>http://editor.planning.domains/#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Problems are split into two PDDL files</a:t>
            </a:r>
          </a:p>
          <a:p>
            <a:pPr lvl="1"/>
            <a:r>
              <a:rPr lang="en-GB" dirty="0" smtClean="0"/>
              <a:t>Domain – defines actions and predicates</a:t>
            </a:r>
          </a:p>
          <a:p>
            <a:pPr lvl="1"/>
            <a:r>
              <a:rPr lang="en-GB" dirty="0" smtClean="0"/>
              <a:t>Problem – defines an initial state and goal state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2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Logistics problems</a:t>
            </a:r>
          </a:p>
          <a:p>
            <a:pPr lvl="1"/>
            <a:r>
              <a:rPr lang="en-GB" dirty="0" smtClean="0">
                <a:hlinkClick r:id="rId2"/>
              </a:rPr>
              <a:t>http://www.cs.utexas.edu/~vl/teaching/planning/pddl/strict-domains/logistics/</a:t>
            </a:r>
            <a:endParaRPr lang="en-GB" dirty="0" smtClean="0"/>
          </a:p>
          <a:p>
            <a:r>
              <a:rPr lang="en-GB" dirty="0" smtClean="0"/>
              <a:t>The Ferry problem</a:t>
            </a:r>
          </a:p>
          <a:p>
            <a:pPr lvl="1"/>
            <a:r>
              <a:rPr lang="en-GB" dirty="0" smtClean="0">
                <a:hlinkClick r:id="rId3"/>
              </a:rPr>
              <a:t>http://www.cs.utexas.edu/~vl/teaching/planning/pddl/strict-domains/ferry/</a:t>
            </a:r>
            <a:endParaRPr lang="en-GB" dirty="0" smtClean="0"/>
          </a:p>
          <a:p>
            <a:pPr lvl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621406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Automated Problem Solving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We need to search for a plan that takes us to the goal state</a:t>
            </a:r>
          </a:p>
          <a:p>
            <a:r>
              <a:rPr lang="en-GB" dirty="0" smtClean="0"/>
              <a:t>One possibility is a tree search </a:t>
            </a:r>
            <a:r>
              <a:rPr lang="en-GB" i="1" dirty="0" smtClean="0"/>
              <a:t>(state-space search)</a:t>
            </a:r>
          </a:p>
          <a:p>
            <a:pPr lvl="1"/>
            <a:r>
              <a:rPr lang="en-GB" dirty="0" smtClean="0"/>
              <a:t>Our root node is the initial state</a:t>
            </a:r>
          </a:p>
          <a:p>
            <a:pPr lvl="1"/>
            <a:r>
              <a:rPr lang="en-GB" dirty="0" smtClean="0"/>
              <a:t>We then have branch nodes for each state that we can reach using one valid action from the current state</a:t>
            </a:r>
          </a:p>
          <a:p>
            <a:r>
              <a:rPr lang="en-GB" dirty="0" smtClean="0"/>
              <a:t>The tree will grow </a:t>
            </a:r>
            <a:r>
              <a:rPr lang="en-GB" b="1" dirty="0" smtClean="0"/>
              <a:t>very quickly </a:t>
            </a:r>
            <a:r>
              <a:rPr lang="en-GB" dirty="0" smtClean="0"/>
              <a:t>and become </a:t>
            </a:r>
            <a:r>
              <a:rPr lang="en-GB" b="1" dirty="0" smtClean="0"/>
              <a:t>very large</a:t>
            </a:r>
            <a:r>
              <a:rPr lang="en-GB" dirty="0" smtClean="0"/>
              <a:t> for anything except the most trivial problem!</a:t>
            </a:r>
          </a:p>
          <a:p>
            <a:r>
              <a:rPr lang="en-GB" dirty="0" smtClean="0"/>
              <a:t>One option is to start from the goal state and the initial state and construct trees concurrently</a:t>
            </a:r>
          </a:p>
          <a:p>
            <a:pPr lvl="1"/>
            <a:r>
              <a:rPr lang="en-GB" dirty="0" smtClean="0"/>
              <a:t>When they both find the same state, they have collectively found a plan</a:t>
            </a:r>
          </a:p>
          <a:p>
            <a:pPr lvl="1"/>
            <a:r>
              <a:rPr lang="en-GB" dirty="0" smtClean="0"/>
              <a:t>Also know as </a:t>
            </a:r>
            <a:r>
              <a:rPr lang="en-GB" i="1" dirty="0" smtClean="0"/>
              <a:t>Backward search or regression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983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Automated problem solving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 we know the beginning and end states we can think of our problem as a graph search</a:t>
            </a:r>
          </a:p>
          <a:p>
            <a:pPr lvl="1"/>
            <a:r>
              <a:rPr lang="en-GB" dirty="0" smtClean="0"/>
              <a:t>Nodes represent problem states</a:t>
            </a:r>
          </a:p>
          <a:p>
            <a:pPr lvl="1"/>
            <a:r>
              <a:rPr lang="en-GB" dirty="0" smtClean="0"/>
              <a:t>Arcs represent actions between problem states</a:t>
            </a:r>
          </a:p>
          <a:p>
            <a:r>
              <a:rPr lang="en-GB" dirty="0" smtClean="0"/>
              <a:t>It is possible to use A* to find a plan from within a graph</a:t>
            </a:r>
          </a:p>
          <a:p>
            <a:pPr lvl="1"/>
            <a:r>
              <a:rPr lang="en-GB" dirty="0" smtClean="0"/>
              <a:t>The heuristic is problematic</a:t>
            </a:r>
          </a:p>
          <a:p>
            <a:pPr lvl="1"/>
            <a:r>
              <a:rPr lang="en-GB" dirty="0" smtClean="0"/>
              <a:t>Need to be able to define how “close” a state is to solving the problem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92936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Planning Graphs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 planning graph is a directed organised graph</a:t>
            </a:r>
          </a:p>
          <a:p>
            <a:r>
              <a:rPr lang="en-GB" dirty="0" smtClean="0"/>
              <a:t>It comprises levels </a:t>
            </a:r>
          </a:p>
          <a:p>
            <a:pPr lvl="1"/>
            <a:r>
              <a:rPr lang="en-GB" dirty="0" smtClean="0"/>
              <a:t>S</a:t>
            </a:r>
            <a:r>
              <a:rPr lang="en-GB" baseline="-25000" dirty="0" smtClean="0"/>
              <a:t>0</a:t>
            </a:r>
            <a:r>
              <a:rPr lang="en-GB" dirty="0" smtClean="0"/>
              <a:t> representing the initial state </a:t>
            </a:r>
          </a:p>
          <a:p>
            <a:pPr lvl="1"/>
            <a:r>
              <a:rPr lang="en-GB" dirty="0" smtClean="0"/>
              <a:t>A</a:t>
            </a:r>
            <a:r>
              <a:rPr lang="en-GB" baseline="-25000" dirty="0" smtClean="0"/>
              <a:t>0</a:t>
            </a:r>
            <a:r>
              <a:rPr lang="en-GB" dirty="0" smtClean="0"/>
              <a:t> represents those actions that are applicable in S</a:t>
            </a:r>
            <a:r>
              <a:rPr lang="en-GB" baseline="-25000" dirty="0" smtClean="0"/>
              <a:t>0</a:t>
            </a:r>
          </a:p>
          <a:p>
            <a:r>
              <a:rPr lang="en-GB" dirty="0" smtClean="0"/>
              <a:t>Keep adding levels until the graph has “levelled off”</a:t>
            </a:r>
          </a:p>
          <a:p>
            <a:pPr lvl="1"/>
            <a:r>
              <a:rPr lang="en-GB" dirty="0" smtClean="0"/>
              <a:t>Levelling off occurs when consecutive levels of the graph are the same</a:t>
            </a:r>
          </a:p>
          <a:p>
            <a:pPr lvl="1"/>
            <a:endParaRPr lang="en-GB" dirty="0" smtClean="0"/>
          </a:p>
          <a:p>
            <a:pPr lvl="1"/>
            <a:endParaRPr lang="en-GB" baseline="-25000" dirty="0"/>
          </a:p>
        </p:txBody>
      </p:sp>
    </p:spTree>
    <p:extLst>
      <p:ext uri="{BB962C8B-B14F-4D97-AF65-F5344CB8AC3E}">
        <p14:creationId xmlns:p14="http://schemas.microsoft.com/office/powerpoint/2010/main" val="1367008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0"/>
            <a:ext cx="10515600" cy="1325563"/>
          </a:xfrm>
        </p:spPr>
        <p:txBody>
          <a:bodyPr/>
          <a:lstStyle/>
          <a:p>
            <a:r>
              <a:rPr lang="en-GB" dirty="0" err="1" smtClean="0"/>
              <a:t>GraphPlan</a:t>
            </a:r>
            <a:r>
              <a:rPr lang="en-GB" dirty="0" smtClean="0"/>
              <a:t> example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61" y="1081088"/>
            <a:ext cx="9795725" cy="2222093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23900" y="3781424"/>
            <a:ext cx="10515600" cy="160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GB" baseline="-25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09624" y="3602831"/>
            <a:ext cx="10515600" cy="304561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 err="1" smtClean="0"/>
              <a:t>Init</a:t>
            </a:r>
            <a:r>
              <a:rPr lang="en-GB" dirty="0" smtClean="0"/>
              <a:t>(Have(Cake))</a:t>
            </a:r>
          </a:p>
          <a:p>
            <a:pPr marL="0" indent="0">
              <a:buNone/>
            </a:pPr>
            <a:r>
              <a:rPr lang="en-GB" dirty="0" smtClean="0"/>
              <a:t>Goal(Have(Cake)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Ʌ Eaten(Cake))</a:t>
            </a:r>
          </a:p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Action(Eat(Cake)</a:t>
            </a:r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PRECOND: Have(Cake)</a:t>
            </a:r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 ¬Have(Cake) Ʌ Eaten(Cake))</a:t>
            </a:r>
          </a:p>
          <a:p>
            <a:pPr marL="0" indent="0">
              <a:buNone/>
            </a:pP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Action(Bake(Cake)</a:t>
            </a:r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PREDCOND: ¬Have(Cake)</a:t>
            </a:r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GB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EFFECT: Have(Cake))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845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0"/>
            <a:ext cx="10515600" cy="1325563"/>
          </a:xfrm>
        </p:spPr>
        <p:txBody>
          <a:bodyPr/>
          <a:lstStyle/>
          <a:p>
            <a:r>
              <a:rPr lang="en-GB" dirty="0" err="1" smtClean="0"/>
              <a:t>GraphPlan</a:t>
            </a:r>
            <a:r>
              <a:rPr lang="en-GB" dirty="0" smtClean="0"/>
              <a:t> example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61" y="1081088"/>
            <a:ext cx="9795725" cy="2222093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23900" y="3781424"/>
            <a:ext cx="10515600" cy="160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GB" baseline="-25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09624" y="3602831"/>
            <a:ext cx="10515600" cy="3045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Rectangle indicate actions</a:t>
            </a:r>
          </a:p>
          <a:p>
            <a:r>
              <a:rPr lang="en-GB" dirty="0" smtClean="0"/>
              <a:t>Small squares indicate persistence actions</a:t>
            </a:r>
          </a:p>
          <a:p>
            <a:r>
              <a:rPr lang="en-GB" dirty="0" err="1" smtClean="0"/>
              <a:t>Mutex</a:t>
            </a:r>
            <a:r>
              <a:rPr lang="en-GB" dirty="0" smtClean="0"/>
              <a:t> are shown as grey lines </a:t>
            </a:r>
          </a:p>
          <a:p>
            <a:pPr lvl="1"/>
            <a:r>
              <a:rPr lang="en-GB" dirty="0" smtClean="0"/>
              <a:t>Mutually exclusive actions</a:t>
            </a:r>
          </a:p>
          <a:p>
            <a:pPr lvl="1"/>
            <a:r>
              <a:rPr lang="en-GB" dirty="0" smtClean="0"/>
              <a:t>Actions/states linked by a </a:t>
            </a:r>
            <a:r>
              <a:rPr lang="en-GB" dirty="0" err="1" smtClean="0"/>
              <a:t>mutex</a:t>
            </a:r>
            <a:r>
              <a:rPr lang="en-GB" dirty="0" smtClean="0"/>
              <a:t> show that only one of them can hold true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2919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0"/>
            <a:ext cx="10515600" cy="1325563"/>
          </a:xfrm>
        </p:spPr>
        <p:txBody>
          <a:bodyPr/>
          <a:lstStyle/>
          <a:p>
            <a:r>
              <a:rPr lang="en-GB" dirty="0" err="1" smtClean="0"/>
              <a:t>GraphPlan</a:t>
            </a:r>
            <a:r>
              <a:rPr lang="en-GB" dirty="0" smtClean="0"/>
              <a:t> example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61" y="1081088"/>
            <a:ext cx="9795725" cy="2222093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23900" y="3781424"/>
            <a:ext cx="10515600" cy="160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GB" baseline="-25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09624" y="3602831"/>
            <a:ext cx="10515600" cy="3045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This graph has levelled off at S</a:t>
            </a:r>
            <a:r>
              <a:rPr lang="en-GB" baseline="-25000" dirty="0" smtClean="0"/>
              <a:t>2</a:t>
            </a:r>
          </a:p>
          <a:p>
            <a:r>
              <a:rPr lang="en-GB" dirty="0" smtClean="0"/>
              <a:t>S</a:t>
            </a:r>
            <a:r>
              <a:rPr lang="en-GB" baseline="-25000" dirty="0" smtClean="0"/>
              <a:t>1</a:t>
            </a:r>
            <a:r>
              <a:rPr lang="en-GB" dirty="0" smtClean="0"/>
              <a:t> and S</a:t>
            </a:r>
            <a:r>
              <a:rPr lang="en-GB" baseline="-25000" dirty="0" smtClean="0"/>
              <a:t>2</a:t>
            </a:r>
            <a:r>
              <a:rPr lang="en-GB" dirty="0" smtClean="0"/>
              <a:t> are the same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53580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0"/>
            <a:ext cx="10515600" cy="1325563"/>
          </a:xfrm>
        </p:spPr>
        <p:txBody>
          <a:bodyPr/>
          <a:lstStyle/>
          <a:p>
            <a:r>
              <a:rPr lang="en-GB" dirty="0" err="1" smtClean="0"/>
              <a:t>GraphPlan</a:t>
            </a:r>
            <a:r>
              <a:rPr lang="en-GB" dirty="0" smtClean="0"/>
              <a:t> example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61" y="1081088"/>
            <a:ext cx="9795725" cy="2222093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23900" y="3781424"/>
            <a:ext cx="10515600" cy="160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GB" baseline="-25000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09624" y="3602831"/>
            <a:ext cx="10515600" cy="3045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>
                <a:solidFill>
                  <a:prstClr val="black"/>
                </a:solidFill>
              </a:rPr>
              <a:t>Note that in S</a:t>
            </a:r>
            <a:r>
              <a:rPr lang="en-GB" baseline="-25000" dirty="0" smtClean="0">
                <a:solidFill>
                  <a:prstClr val="black"/>
                </a:solidFill>
              </a:rPr>
              <a:t>2 </a:t>
            </a:r>
            <a:r>
              <a:rPr lang="en-GB" dirty="0" smtClean="0">
                <a:solidFill>
                  <a:prstClr val="black"/>
                </a:solidFill>
              </a:rPr>
              <a:t> we can have our cake and eat it</a:t>
            </a:r>
          </a:p>
          <a:p>
            <a:r>
              <a:rPr lang="en-GB" dirty="0" smtClean="0">
                <a:solidFill>
                  <a:prstClr val="black"/>
                </a:solidFill>
              </a:rPr>
              <a:t>Trace back from </a:t>
            </a:r>
            <a:r>
              <a:rPr lang="en-GB" dirty="0">
                <a:solidFill>
                  <a:prstClr val="black"/>
                </a:solidFill>
              </a:rPr>
              <a:t>S</a:t>
            </a:r>
            <a:r>
              <a:rPr lang="en-GB" baseline="-25000" dirty="0">
                <a:solidFill>
                  <a:prstClr val="black"/>
                </a:solidFill>
              </a:rPr>
              <a:t>2 </a:t>
            </a:r>
            <a:r>
              <a:rPr lang="en-GB" baseline="-25000" dirty="0" smtClean="0">
                <a:solidFill>
                  <a:prstClr val="black"/>
                </a:solidFill>
              </a:rPr>
              <a:t> </a:t>
            </a:r>
            <a:r>
              <a:rPr lang="en-GB" dirty="0" smtClean="0">
                <a:solidFill>
                  <a:prstClr val="black"/>
                </a:solidFill>
              </a:rPr>
              <a:t>and we get</a:t>
            </a:r>
          </a:p>
          <a:p>
            <a:pPr marL="0" indent="0">
              <a:buNone/>
            </a:pPr>
            <a:r>
              <a:rPr lang="en-GB" dirty="0" smtClean="0">
                <a:solidFill>
                  <a:prstClr val="black"/>
                </a:solidFill>
              </a:rPr>
              <a:t>Eat(cake)</a:t>
            </a:r>
          </a:p>
          <a:p>
            <a:pPr marL="0" indent="0">
              <a:buNone/>
            </a:pPr>
            <a:r>
              <a:rPr lang="en-GB" dirty="0" smtClean="0">
                <a:solidFill>
                  <a:prstClr val="black"/>
                </a:solidFill>
              </a:rPr>
              <a:t>Bake(cake)</a:t>
            </a:r>
          </a:p>
        </p:txBody>
      </p:sp>
    </p:spTree>
    <p:extLst>
      <p:ext uri="{BB962C8B-B14F-4D97-AF65-F5344CB8AC3E}">
        <p14:creationId xmlns:p14="http://schemas.microsoft.com/office/powerpoint/2010/main" val="3946447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more complex example…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690688"/>
            <a:ext cx="9229952" cy="3681412"/>
          </a:xfrm>
        </p:spPr>
      </p:pic>
    </p:spTree>
    <p:extLst>
      <p:ext uri="{BB962C8B-B14F-4D97-AF65-F5344CB8AC3E}">
        <p14:creationId xmlns:p14="http://schemas.microsoft.com/office/powerpoint/2010/main" val="2974287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Planning is branch of AI that allows us to formally solve problems</a:t>
            </a:r>
          </a:p>
          <a:p>
            <a:r>
              <a:rPr lang="en-GB" dirty="0" smtClean="0"/>
              <a:t>If we can express a problem in terms of states and actions then it may be possible to create a plan</a:t>
            </a:r>
          </a:p>
          <a:p>
            <a:pPr lvl="1"/>
            <a:r>
              <a:rPr lang="en-GB" dirty="0" smtClean="0"/>
              <a:t>A plan consists of sequence of actions</a:t>
            </a:r>
          </a:p>
          <a:p>
            <a:pPr lvl="1"/>
            <a:r>
              <a:rPr lang="en-GB" dirty="0" smtClean="0"/>
              <a:t>A successful plan takes us from the initial state to the goal state</a:t>
            </a:r>
          </a:p>
          <a:p>
            <a:r>
              <a:rPr lang="en-GB" dirty="0" smtClean="0"/>
              <a:t>PDDL allows us to formally express problems, states and actions</a:t>
            </a:r>
          </a:p>
          <a:p>
            <a:r>
              <a:rPr lang="en-GB" smtClean="0"/>
              <a:t>Automated </a:t>
            </a:r>
            <a:r>
              <a:rPr lang="en-GB" dirty="0" smtClean="0"/>
              <a:t>solvers are available for PDDL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36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15918</TotalTime>
  <Words>1232</Words>
  <Application>Microsoft Office PowerPoint</Application>
  <PresentationFormat>Widescreen</PresentationFormat>
  <Paragraphs>282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Office Theme</vt:lpstr>
      <vt:lpstr>Classical Planning</vt:lpstr>
      <vt:lpstr>What is planning? </vt:lpstr>
      <vt:lpstr>What is a plan?</vt:lpstr>
      <vt:lpstr>What is a plan?  Example…..</vt:lpstr>
      <vt:lpstr>Problem solving with plans</vt:lpstr>
      <vt:lpstr>A simple example: Scenario</vt:lpstr>
      <vt:lpstr>A simple example: Actions</vt:lpstr>
      <vt:lpstr>A simple example: Initial state</vt:lpstr>
      <vt:lpstr>A Simple Example: Goal</vt:lpstr>
      <vt:lpstr>A simple example: A plan</vt:lpstr>
      <vt:lpstr>A simple example: A plan</vt:lpstr>
      <vt:lpstr>A simple example: A plan</vt:lpstr>
      <vt:lpstr>A more complex example…</vt:lpstr>
      <vt:lpstr>Can we come up with a solution?</vt:lpstr>
      <vt:lpstr>PDDL</vt:lpstr>
      <vt:lpstr>A PPDL Action…</vt:lpstr>
      <vt:lpstr>A PPDL Action…</vt:lpstr>
      <vt:lpstr>Example (from the book): Air Cargo Transport</vt:lpstr>
      <vt:lpstr>Example (from the book): Air Cargo Transport</vt:lpstr>
      <vt:lpstr>Example (from the book): Air Cargo Transport</vt:lpstr>
      <vt:lpstr>Example (from the book): Air Cargo Transport</vt:lpstr>
      <vt:lpstr>A solution to our example</vt:lpstr>
      <vt:lpstr>And now for something completely different…</vt:lpstr>
      <vt:lpstr>The Spare Tire Problem</vt:lpstr>
      <vt:lpstr>The Spare Tire Problem</vt:lpstr>
      <vt:lpstr>A plan to change tires</vt:lpstr>
      <vt:lpstr>Automated Planners</vt:lpstr>
      <vt:lpstr>An online planner</vt:lpstr>
      <vt:lpstr>Examples</vt:lpstr>
      <vt:lpstr>Automated Problem Solving</vt:lpstr>
      <vt:lpstr>Automated problem solving </vt:lpstr>
      <vt:lpstr>Planning Graphs</vt:lpstr>
      <vt:lpstr>GraphPlan example</vt:lpstr>
      <vt:lpstr>GraphPlan example</vt:lpstr>
      <vt:lpstr>GraphPlan example</vt:lpstr>
      <vt:lpstr>GraphPlan example</vt:lpstr>
      <vt:lpstr>A more complex example…</vt:lpstr>
      <vt:lpstr>Summary</vt:lpstr>
    </vt:vector>
  </TitlesOfParts>
  <Company>Edinburgh Napier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Classical Planning</dc:title>
  <dc:creator>Urquhart, Neil</dc:creator>
  <cp:lastModifiedBy>Urquhart, Neil</cp:lastModifiedBy>
  <cp:revision>40</cp:revision>
  <dcterms:created xsi:type="dcterms:W3CDTF">2017-02-16T14:03:57Z</dcterms:created>
  <dcterms:modified xsi:type="dcterms:W3CDTF">2017-03-19T17:30:00Z</dcterms:modified>
</cp:coreProperties>
</file>